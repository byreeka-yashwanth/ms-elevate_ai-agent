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24"/>
  </p:notesMasterIdLst>
  <p:sldIdLst>
    <p:sldId id="256" r:id="rId3"/>
    <p:sldId id="571" r:id="rId4"/>
    <p:sldId id="572" r:id="rId5"/>
    <p:sldId id="573" r:id="rId6"/>
    <p:sldId id="580" r:id="rId7"/>
    <p:sldId id="574" r:id="rId8"/>
    <p:sldId id="581" r:id="rId9"/>
    <p:sldId id="575" r:id="rId10"/>
    <p:sldId id="582" r:id="rId11"/>
    <p:sldId id="576" r:id="rId12"/>
    <p:sldId id="583" r:id="rId13"/>
    <p:sldId id="584" r:id="rId14"/>
    <p:sldId id="585" r:id="rId15"/>
    <p:sldId id="586" r:id="rId16"/>
    <p:sldId id="587" r:id="rId17"/>
    <p:sldId id="577" r:id="rId18"/>
    <p:sldId id="588" r:id="rId19"/>
    <p:sldId id="579" r:id="rId20"/>
    <p:sldId id="589" r:id="rId21"/>
    <p:sldId id="578" r:id="rId22"/>
    <p:sldId id="536" r:id="rId23"/>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p:scale>
          <a:sx n="66" d="100"/>
          <a:sy n="66" d="100"/>
        </p:scale>
        <p:origin x="1301" y="413"/>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31-01-2026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21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31-01-2026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1/31/2026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31/01/2026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cdn.botpress.cloud/webchat/v3.5/shareable.html?configUrl=https://files.bpcontent.cloud/2026/01/30/14/20260130141244-0L418N3V.json"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learn.microsoft.com/en-us/microsoft-copilot-studio/create-custom-prompt" TargetMode="External"/><Relationship Id="rId2" Type="http://schemas.openxmlformats.org/officeDocument/2006/relationships/hyperlink" Target="https://www.botpress.com/docs?utm_source=chatgpt.com" TargetMode="External"/><Relationship Id="rId1" Type="http://schemas.openxmlformats.org/officeDocument/2006/relationships/slideLayout" Target="../slideLayouts/slideLayout3.xml"/><Relationship Id="rId6" Type="http://schemas.openxmlformats.org/officeDocument/2006/relationships/hyperlink" Target="https://en.wikipedia.org/wiki/ELIZA_effect?utm_source=chatgpt.com" TargetMode="External"/><Relationship Id="rId5" Type="http://schemas.openxmlformats.org/officeDocument/2006/relationships/hyperlink" Target="https://arxiv.org/abs/2401.08517?utm_source=chatgpt.com" TargetMode="External"/><Relationship Id="rId4" Type="http://schemas.openxmlformats.org/officeDocument/2006/relationships/hyperlink" Target="https://www.mdpi.com/2227-7102/15/11/1507?utm_source=chatgpt.com" TargetMode="Externa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27808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224657"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5118312" cy="2506766"/>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dirty="0">
                <a:latin typeface="+mn-lt"/>
              </a:rPr>
              <a:t>AI Student Helpdesk Agent for Academic Guidance and Campus Support</a:t>
            </a: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792470" cy="229701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t>
            </a:r>
            <a:r>
              <a:rPr lang="en-US" sz="1600" b="1" dirty="0"/>
              <a:t>Byreeka Yashwanth Reddy</a:t>
            </a:r>
            <a:endParaRPr lang="en-US" sz="1600" b="1" cap="all" dirty="0"/>
          </a:p>
          <a:p>
            <a:pPr algn="l">
              <a:spcAft>
                <a:spcPts val="600"/>
              </a:spcAft>
            </a:pPr>
            <a:r>
              <a:rPr lang="en-US" sz="1600" b="1" cap="all" dirty="0"/>
              <a:t>College Name: </a:t>
            </a:r>
            <a:r>
              <a:rPr lang="en-US" sz="1600" b="1" dirty="0"/>
              <a:t>Koneru Lakshmaiah Education Foundation (Off Campus: Bachupally, Hyderabad)</a:t>
            </a:r>
            <a:br>
              <a:rPr lang="en-US" sz="1600" b="1" dirty="0"/>
            </a:br>
            <a:br>
              <a:rPr lang="en-US" sz="1600" b="1" dirty="0"/>
            </a:br>
            <a:r>
              <a:rPr lang="en-US" sz="1600" b="1" cap="all" dirty="0"/>
              <a:t>Department: CSE</a:t>
            </a:r>
          </a:p>
          <a:p>
            <a:pPr algn="l">
              <a:spcAft>
                <a:spcPts val="600"/>
              </a:spcAft>
            </a:pPr>
            <a:r>
              <a:rPr lang="en-US" sz="1600" b="1" cap="all" dirty="0"/>
              <a:t>Email ID: </a:t>
            </a:r>
            <a:r>
              <a:rPr lang="en-US" sz="1600" b="1" dirty="0"/>
              <a:t>yashwanthreddybyreeka@gmail.com</a:t>
            </a:r>
            <a:endParaRPr lang="en-US" sz="1600" b="1" cap="all" dirty="0"/>
          </a:p>
        </p:txBody>
      </p:sp>
      <p:sp>
        <p:nvSpPr>
          <p:cNvPr id="4" name="Rectangle 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8DDFCF65-4541-7CF7-DB16-B8C358AC3FF0}"/>
              </a:ext>
            </a:extLst>
          </p:cNvPr>
          <p:cNvPicPr>
            <a:picLocks noChangeAspect="1"/>
          </p:cNvPicPr>
          <p:nvPr/>
        </p:nvPicPr>
        <p:blipFill>
          <a:blip r:embed="rId5"/>
          <a:stretch>
            <a:fillRect/>
          </a:stretch>
        </p:blipFill>
        <p:spPr>
          <a:xfrm>
            <a:off x="6409990" y="963029"/>
            <a:ext cx="4590784" cy="4936489"/>
          </a:xfrm>
          <a:prstGeom prst="rect">
            <a:avLst/>
          </a:prstGeom>
        </p:spPr>
      </p:pic>
      <p:pic>
        <p:nvPicPr>
          <p:cNvPr id="12" name="Picture 11">
            <a:extLst>
              <a:ext uri="{FF2B5EF4-FFF2-40B4-BE49-F238E27FC236}">
                <a16:creationId xmlns:a16="http://schemas.microsoft.com/office/drawing/2014/main" id="{640E45B0-D672-293F-64D2-0A44F15D9D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09990" y="958482"/>
            <a:ext cx="4590784"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lnSpcReduction="10000"/>
          </a:bodyPr>
          <a:lstStyle/>
          <a:p>
            <a:r>
              <a:rPr lang="en-US" sz="2200" dirty="0">
                <a:latin typeface="Franklin Gothic Book" panose="020B0503020102020204" pitchFamily="34" charset="0"/>
              </a:rPr>
              <a:t>In academic institutions, students frequently face challenges related to attendance management, exam preparation, time planning, communication with faculty, scholarships, and general campus life. While this guidance is essential, students often do not know whom to approach, hesitate to ask repeatedly, or lack immediate access to reliable support.</a:t>
            </a:r>
          </a:p>
          <a:p>
            <a:r>
              <a:rPr lang="en-US" sz="2200" dirty="0">
                <a:latin typeface="Franklin Gothic Book" panose="020B0503020102020204" pitchFamily="34" charset="0"/>
              </a:rPr>
              <a:t>As a result, many students experience confusion, stress, poor time management, and a lack of awareness about available academic and campus-related guidance. The absence of an easily accessible, always-available support system makes it difficult for students to get timely direction for non-subject-related concerns.</a:t>
            </a:r>
          </a:p>
          <a:p>
            <a:r>
              <a:rPr lang="en-US" sz="2200" dirty="0">
                <a:latin typeface="Franklin Gothic Book" panose="020B0503020102020204" pitchFamily="34" charset="0"/>
              </a:rPr>
              <a:t>Therefore, there is a need for an intelligent, conversational AI-based helpdesk agent that can provide students with instant guidance, motivation, and support for academic planning, communication, and campus life in a simple and approachable manner.</a:t>
            </a:r>
          </a:p>
          <a:p>
            <a:pPr marL="0" indent="0">
              <a:buNone/>
            </a:pP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1191" y="1300480"/>
            <a:ext cx="12193191" cy="5425440"/>
          </a:xfrm>
        </p:spPr>
        <p:txBody>
          <a:bodyPr vert="horz" lIns="91440" tIns="45720" rIns="91440" bIns="45720" rtlCol="0" anchor="t">
            <a:noAutofit/>
          </a:bodyPr>
          <a:lstStyle/>
          <a:p>
            <a:pPr marL="305435" indent="-305435">
              <a:spcBef>
                <a:spcPct val="20000"/>
              </a:spcBef>
              <a:spcAft>
                <a:spcPts val="600"/>
              </a:spcAft>
              <a:buFont typeface="Arial"/>
              <a:buChar char="•"/>
            </a:pPr>
            <a:r>
              <a:rPr lang="en-US" sz="1600" dirty="0">
                <a:latin typeface="Calibri" panose="020F0502020204030204" pitchFamily="34" charset="0"/>
                <a:ea typeface="Calibri" panose="020F0502020204030204" pitchFamily="34" charset="0"/>
                <a:cs typeface="Calibri" panose="020F0502020204030204" pitchFamily="34" charset="0"/>
              </a:rPr>
              <a:t>The proposed system aims to address the difficulties students face in obtaining timely guidance for academic planning, communication, motivation, attendance concerns, and overall campus life. This is achieved by developing an AI-powered Student Helpdesk Agent that provides instant, conversational support for students’ non-subject-related queries in a simple and accessible manner.</a:t>
            </a:r>
            <a:br>
              <a:rPr lang="en-US" sz="1600" dirty="0">
                <a:latin typeface="Calibri" panose="020F0502020204030204" pitchFamily="34" charset="0"/>
                <a:ea typeface="Calibri" panose="020F0502020204030204" pitchFamily="34" charset="0"/>
                <a:cs typeface="Calibri" panose="020F0502020204030204" pitchFamily="34" charset="0"/>
              </a:rPr>
            </a:b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The solution consists of the following components:</a:t>
            </a:r>
            <a:endParaRPr lang="en-IN" sz="16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a:buChar char="•"/>
            </a:pPr>
            <a:r>
              <a:rPr lang="en-US" sz="1600" b="1" dirty="0">
                <a:latin typeface="Calibri" panose="020F0502020204030204" pitchFamily="34" charset="0"/>
                <a:ea typeface="Calibri" panose="020F0502020204030204" pitchFamily="34" charset="0"/>
                <a:cs typeface="Calibri" panose="020F0502020204030204" pitchFamily="34" charset="0"/>
              </a:rPr>
              <a:t>Requirement Understanding:</a:t>
            </a:r>
            <a:endParaRPr lang="en-IN" sz="1600" b="1" dirty="0">
              <a:latin typeface="Calibri"/>
              <a:ea typeface="Calibri"/>
              <a:cs typeface="Calibri"/>
            </a:endParaRPr>
          </a:p>
          <a:p>
            <a:pPr marL="629920" lvl="1" indent="-305435">
              <a:spcBef>
                <a:spcPct val="20000"/>
              </a:spcBef>
              <a:spcAft>
                <a:spcPts val="600"/>
              </a:spcAft>
              <a:buFont typeface="Arial"/>
              <a:buChar char="•"/>
            </a:pPr>
            <a:r>
              <a:rPr lang="en-US" sz="1600" dirty="0">
                <a:latin typeface="Calibri" panose="020F0502020204030204" pitchFamily="34" charset="0"/>
                <a:ea typeface="Calibri" panose="020F0502020204030204" pitchFamily="34" charset="0"/>
                <a:cs typeface="Calibri" panose="020F0502020204030204" pitchFamily="34" charset="0"/>
              </a:rPr>
              <a:t>Identify common areas where students frequently require guidance, such as attendance management, exam preparation, time management, stress handling, scholarships, email writing, and general campus concerns.</a:t>
            </a:r>
            <a:endParaRPr lang="en-IN" sz="1600" dirty="0">
              <a:latin typeface="Calibri"/>
              <a:ea typeface="Calibri"/>
              <a:cs typeface="Calibri"/>
            </a:endParaRPr>
          </a:p>
          <a:p>
            <a:pPr marL="305435" indent="-305435">
              <a:spcBef>
                <a:spcPct val="20000"/>
              </a:spcBef>
              <a:spcAft>
                <a:spcPts val="600"/>
              </a:spcAft>
              <a:buFont typeface="Arial"/>
              <a:buChar char="•"/>
            </a:pPr>
            <a:r>
              <a:rPr lang="en-US" sz="1600" b="1" dirty="0">
                <a:latin typeface="Calibri" panose="020F0502020204030204" pitchFamily="34" charset="0"/>
                <a:ea typeface="Calibri" panose="020F0502020204030204" pitchFamily="34" charset="0"/>
                <a:cs typeface="Calibri" panose="020F0502020204030204" pitchFamily="34" charset="0"/>
              </a:rPr>
              <a:t>Agent Design and Instruction Setup:</a:t>
            </a:r>
            <a:endParaRPr lang="en-IN" sz="1600" b="1" dirty="0">
              <a:latin typeface="Calibri" panose="020F0502020204030204" pitchFamily="34" charset="0"/>
              <a:ea typeface="Calibri" panose="020F0502020204030204" pitchFamily="34" charset="0"/>
              <a:cs typeface="Calibri" panose="020F0502020204030204" pitchFamily="34" charset="0"/>
            </a:endParaRPr>
          </a:p>
          <a:p>
            <a:pPr marL="629920" lvl="1" indent="-305435">
              <a:spcBef>
                <a:spcPct val="20000"/>
              </a:spcBef>
              <a:spcAft>
                <a:spcPts val="600"/>
              </a:spcAft>
              <a:buFont typeface="Arial"/>
              <a:buChar char="•"/>
            </a:pPr>
            <a:r>
              <a:rPr lang="en-US" sz="1600" dirty="0">
                <a:latin typeface="Calibri" panose="020F0502020204030204" pitchFamily="34" charset="0"/>
                <a:ea typeface="Calibri" panose="020F0502020204030204" pitchFamily="34" charset="0"/>
                <a:cs typeface="Calibri" panose="020F0502020204030204" pitchFamily="34" charset="0"/>
              </a:rPr>
              <a:t>Define clear instructions for the AI agent to ensure it provides only guidance-based responses and avoids answering core subject-related academic questions. </a:t>
            </a:r>
            <a:r>
              <a:rPr lang="en-US" sz="1600" b="1" dirty="0">
                <a:latin typeface="Calibri" panose="020F0502020204030204" pitchFamily="34" charset="0"/>
                <a:ea typeface="Calibri" panose="020F0502020204030204" pitchFamily="34" charset="0"/>
                <a:cs typeface="Calibri" panose="020F0502020204030204" pitchFamily="34" charset="0"/>
              </a:rPr>
              <a:t>The agent is designed to act as a student support assistant rather than a subject tutor.</a:t>
            </a:r>
            <a:endParaRPr lang="en-IN" sz="1600" b="1"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a:buChar char="•"/>
            </a:pPr>
            <a:r>
              <a:rPr lang="en-US" sz="1600" b="1" dirty="0">
                <a:latin typeface="Calibri" panose="020F0502020204030204" pitchFamily="34" charset="0"/>
                <a:ea typeface="Calibri" panose="020F0502020204030204" pitchFamily="34" charset="0"/>
                <a:cs typeface="Calibri" panose="020F0502020204030204" pitchFamily="34" charset="0"/>
              </a:rPr>
              <a:t>Topic Structuring:</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Organize the guidance areas into structured topics such as:</a:t>
            </a:r>
          </a:p>
          <a:p>
            <a:pPr lvl="1">
              <a:spcBef>
                <a:spcPct val="20000"/>
              </a:spcBef>
              <a:spcAft>
                <a:spcPts val="600"/>
              </a:spcAf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Attendance &amp; Missed Class Guidance</a:t>
            </a:r>
          </a:p>
          <a:p>
            <a:pPr lvl="1">
              <a:spcBef>
                <a:spcPct val="20000"/>
              </a:spcBef>
              <a:spcAft>
                <a:spcPts val="600"/>
              </a:spcAf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Exam Preparation &amp; Stress Management</a:t>
            </a:r>
          </a:p>
          <a:p>
            <a:pPr lvl="1">
              <a:spcBef>
                <a:spcPct val="20000"/>
              </a:spcBef>
              <a:spcAft>
                <a:spcPts val="600"/>
              </a:spcAf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Time Management &amp; Semester Planning </a:t>
            </a:r>
          </a:p>
          <a:p>
            <a:pPr lvl="1">
              <a:spcBef>
                <a:spcPct val="20000"/>
              </a:spcBef>
              <a:spcAft>
                <a:spcPts val="600"/>
              </a:spcAf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Study &amp; Note-Taking Help </a:t>
            </a:r>
          </a:p>
          <a:p>
            <a:pPr lvl="1">
              <a:spcBef>
                <a:spcPct val="20000"/>
              </a:spcBef>
              <a:spcAft>
                <a:spcPts val="600"/>
              </a:spcAf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Writing Emails &amp; Communication Help</a:t>
            </a:r>
          </a:p>
        </p:txBody>
      </p:sp>
      <p:sp>
        <p:nvSpPr>
          <p:cNvPr id="6" name="TextBox 5">
            <a:extLst>
              <a:ext uri="{FF2B5EF4-FFF2-40B4-BE49-F238E27FC236}">
                <a16:creationId xmlns:a16="http://schemas.microsoft.com/office/drawing/2014/main" id="{040E9574-6EFA-B64C-1374-DAD2725A8299}"/>
              </a:ext>
            </a:extLst>
          </p:cNvPr>
          <p:cNvSpPr txBox="1"/>
          <p:nvPr/>
        </p:nvSpPr>
        <p:spPr>
          <a:xfrm>
            <a:off x="4266943" y="4929188"/>
            <a:ext cx="4078404" cy="1323439"/>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Scholarship Awareness &amp; Guidance</a:t>
            </a:r>
            <a:br>
              <a:rPr lang="en-US" sz="1600" dirty="0">
                <a:latin typeface="Calibri" panose="020F0502020204030204" pitchFamily="34" charset="0"/>
                <a:ea typeface="Calibri" panose="020F0502020204030204" pitchFamily="34" charset="0"/>
                <a:cs typeface="Calibri" panose="020F0502020204030204" pitchFamily="34" charset="0"/>
              </a:rPr>
            </a:b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Motivation &amp; Productivity</a:t>
            </a:r>
            <a:br>
              <a:rPr lang="en-US" sz="1600" dirty="0">
                <a:latin typeface="Calibri" panose="020F0502020204030204" pitchFamily="34" charset="0"/>
                <a:ea typeface="Calibri" panose="020F0502020204030204" pitchFamily="34" charset="0"/>
                <a:cs typeface="Calibri" panose="020F0502020204030204" pitchFamily="34" charset="0"/>
              </a:rPr>
            </a:b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 General Academic &amp; Campus Life Guidance</a:t>
            </a:r>
            <a:endParaRPr lang="en-US" sz="16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41172E-2E89-9A1E-92BA-CF5D91168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0F60D-2884-3959-D0ED-127848B98246}"/>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EFC4B079-3399-712C-765E-808BC3E8EEF5}"/>
              </a:ext>
            </a:extLst>
          </p:cNvPr>
          <p:cNvSpPr>
            <a:spLocks noGrp="1"/>
          </p:cNvSpPr>
          <p:nvPr>
            <p:ph idx="1"/>
          </p:nvPr>
        </p:nvSpPr>
        <p:spPr>
          <a:xfrm>
            <a:off x="0" y="1266031"/>
            <a:ext cx="12193191" cy="5080000"/>
          </a:xfrm>
        </p:spPr>
        <p:txBody>
          <a:bodyPr vert="horz" lIns="91440" tIns="45720" rIns="91440" bIns="45720" rtlCol="0" anchor="t">
            <a:noAutofit/>
          </a:bodyPr>
          <a:lstStyle/>
          <a:p>
            <a:pPr marL="305435" indent="-305435">
              <a:spcBef>
                <a:spcPct val="20000"/>
              </a:spcBef>
              <a:spcAft>
                <a:spcPts val="600"/>
              </a:spcAft>
              <a:buFont typeface="Arial"/>
              <a:buChar char="•"/>
            </a:pPr>
            <a:r>
              <a:rPr lang="en-US" sz="1800" b="1" dirty="0">
                <a:latin typeface="Calibri" panose="020F0502020204030204" pitchFamily="34" charset="0"/>
                <a:ea typeface="Calibri" panose="020F0502020204030204" pitchFamily="34" charset="0"/>
                <a:cs typeface="Calibri" panose="020F0502020204030204" pitchFamily="34" charset="0"/>
              </a:rPr>
              <a:t>Platform Implementation:</a:t>
            </a: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629920" lvl="1" indent="-305435">
              <a:spcBef>
                <a:spcPct val="20000"/>
              </a:spcBef>
              <a:spcAft>
                <a:spcPts val="600"/>
              </a:spcAft>
              <a:buFont typeface="Arial"/>
              <a:buChar char="•"/>
            </a:pPr>
            <a:r>
              <a:rPr lang="en-US" sz="1800" dirty="0">
                <a:latin typeface="Calibri" panose="020F0502020204030204" pitchFamily="34" charset="0"/>
                <a:ea typeface="Calibri" panose="020F0502020204030204" pitchFamily="34" charset="0"/>
                <a:cs typeface="Calibri" panose="020F0502020204030204" pitchFamily="34" charset="0"/>
              </a:rPr>
              <a:t>Implement the agent using a conversational AI platform (Botpress) to create an interactive web-based chatbot interface that students can access easily through a browser.</a:t>
            </a:r>
            <a:endParaRPr lang="en-IN" sz="18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a:buChar char="•"/>
            </a:pPr>
            <a:r>
              <a:rPr lang="en-US" sz="1800" b="1" dirty="0">
                <a:latin typeface="Calibri" panose="020F0502020204030204" pitchFamily="34" charset="0"/>
                <a:ea typeface="Calibri" panose="020F0502020204030204" pitchFamily="34" charset="0"/>
                <a:cs typeface="Calibri" panose="020F0502020204030204" pitchFamily="34" charset="0"/>
              </a:rPr>
              <a:t>Response Handling Using LLM:</a:t>
            </a: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629920" lvl="1" indent="-305435">
              <a:spcBef>
                <a:spcPct val="20000"/>
              </a:spcBef>
              <a:spcAft>
                <a:spcPts val="600"/>
              </a:spcAft>
              <a:buFont typeface="Arial"/>
              <a:buChar char="•"/>
            </a:pPr>
            <a:r>
              <a:rPr lang="en-US" sz="1800" dirty="0">
                <a:latin typeface="Calibri" panose="020F0502020204030204" pitchFamily="34" charset="0"/>
                <a:ea typeface="Calibri" panose="020F0502020204030204" pitchFamily="34" charset="0"/>
                <a:cs typeface="Calibri" panose="020F0502020204030204" pitchFamily="34" charset="0"/>
              </a:rPr>
              <a:t>Utilize a large language model to understand student queries and generate responses strictly according to the defined instructions and topic scope.</a:t>
            </a:r>
            <a:endParaRPr lang="en-IN" sz="18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a:buChar char="•"/>
            </a:pPr>
            <a:r>
              <a:rPr lang="en-US" sz="1800" b="1" dirty="0">
                <a:latin typeface="Calibri" panose="020F0502020204030204" pitchFamily="34" charset="0"/>
                <a:ea typeface="Calibri" panose="020F0502020204030204" pitchFamily="34" charset="0"/>
                <a:cs typeface="Calibri" panose="020F0502020204030204" pitchFamily="34" charset="0"/>
              </a:rPr>
              <a:t>User Interface Deployment:</a:t>
            </a:r>
          </a:p>
          <a:p>
            <a:pPr marL="762635" lvl="1" indent="-305435">
              <a:spcBef>
                <a:spcPct val="20000"/>
              </a:spcBef>
              <a:spcAft>
                <a:spcPts val="600"/>
              </a:spcAft>
              <a:buFont typeface="Arial"/>
              <a:buChar char="•"/>
            </a:pPr>
            <a:r>
              <a:rPr lang="en-US" sz="1800" dirty="0">
                <a:latin typeface="Calibri" panose="020F0502020204030204" pitchFamily="34" charset="0"/>
                <a:ea typeface="Calibri" panose="020F0502020204030204" pitchFamily="34" charset="0"/>
                <a:cs typeface="Calibri" panose="020F0502020204030204" pitchFamily="34" charset="0"/>
              </a:rPr>
              <a:t>Deploy the chatbot as a web chat interface with a simple and friendly design, allowing students to interact naturally using text.</a:t>
            </a:r>
          </a:p>
          <a:p>
            <a:pPr marL="305435" indent="-305435">
              <a:spcBef>
                <a:spcPct val="20000"/>
              </a:spcBef>
              <a:spcAft>
                <a:spcPts val="600"/>
              </a:spcAft>
              <a:buFont typeface="Arial"/>
              <a:buChar char="•"/>
            </a:pPr>
            <a:r>
              <a:rPr lang="en-US" sz="1800" b="1" dirty="0">
                <a:latin typeface="Calibri" panose="020F0502020204030204" pitchFamily="34" charset="0"/>
                <a:ea typeface="Calibri" panose="020F0502020204030204" pitchFamily="34" charset="0"/>
                <a:cs typeface="Calibri" panose="020F0502020204030204" pitchFamily="34" charset="0"/>
              </a:rPr>
              <a:t>Evaluation and Refinement:</a:t>
            </a:r>
          </a:p>
          <a:p>
            <a:pPr marL="762635" lvl="1" indent="-305435">
              <a:spcBef>
                <a:spcPct val="20000"/>
              </a:spcBef>
              <a:spcAft>
                <a:spcPts val="600"/>
              </a:spcAft>
              <a:buFont typeface="Arial"/>
              <a:buChar char="•"/>
            </a:pPr>
            <a:r>
              <a:rPr lang="en-US" sz="1800" dirty="0">
                <a:latin typeface="Calibri" panose="020F0502020204030204" pitchFamily="34" charset="0"/>
                <a:ea typeface="Calibri" panose="020F0502020204030204" pitchFamily="34" charset="0"/>
                <a:cs typeface="Calibri" panose="020F0502020204030204" pitchFamily="34" charset="0"/>
              </a:rPr>
              <a:t>Test the agent with different types of student queries to ensure it correctly provides guidance, maintains boundaries (no subject teaching), and delivers helpful responses. Refine instructions and topics based on observed behavior.</a:t>
            </a:r>
          </a:p>
          <a:p>
            <a:pPr marL="305435" indent="-305435">
              <a:spcBef>
                <a:spcPct val="20000"/>
              </a:spcBef>
              <a:spcAft>
                <a:spcPts val="600"/>
              </a:spcAft>
              <a:buFont typeface="Arial"/>
              <a:buChar char="•"/>
            </a:pPr>
            <a:r>
              <a:rPr lang="en-US" sz="1800" b="1" dirty="0">
                <a:latin typeface="Calibri" panose="020F0502020204030204" pitchFamily="34" charset="0"/>
                <a:ea typeface="Calibri" panose="020F0502020204030204" pitchFamily="34" charset="0"/>
                <a:cs typeface="Calibri" panose="020F0502020204030204" pitchFamily="34" charset="0"/>
              </a:rPr>
              <a:t>Result:</a:t>
            </a:r>
          </a:p>
          <a:p>
            <a:pPr marL="762635" lvl="1" indent="-305435">
              <a:spcBef>
                <a:spcPct val="20000"/>
              </a:spcBef>
              <a:spcAft>
                <a:spcPts val="600"/>
              </a:spcAft>
              <a:buFont typeface="Arial"/>
              <a:buChar char="•"/>
            </a:pPr>
            <a:r>
              <a:rPr lang="en-US" sz="1800" dirty="0">
                <a:latin typeface="Calibri" panose="020F0502020204030204" pitchFamily="34" charset="0"/>
                <a:ea typeface="Calibri" panose="020F0502020204030204" pitchFamily="34" charset="0"/>
                <a:cs typeface="Calibri" panose="020F0502020204030204" pitchFamily="34" charset="0"/>
              </a:rPr>
              <a:t>The system provides students with an always-available, intelligent helpdesk assistant that offers instant guidance, reduces hesitation in seeking help, and supports students in managing their academic and campus life effectively.</a:t>
            </a:r>
          </a:p>
        </p:txBody>
      </p:sp>
    </p:spTree>
    <p:extLst>
      <p:ext uri="{BB962C8B-B14F-4D97-AF65-F5344CB8AC3E}">
        <p14:creationId xmlns:p14="http://schemas.microsoft.com/office/powerpoint/2010/main" val="4050305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9"/>
            <a:ext cx="10515600" cy="527388"/>
          </a:xfrm>
        </p:spPr>
        <p:txBody>
          <a:bodyPr lIns="91440" tIns="45720" rIns="91440" bIns="45720" anchor="t">
            <a:normAutofit fontScale="90000"/>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310641"/>
            <a:ext cx="10515600" cy="5547359"/>
          </a:xfrm>
        </p:spPr>
        <p:txBody>
          <a:bodyPr vert="horz" lIns="91440" tIns="45720" rIns="91440" bIns="45720" rtlCol="0">
            <a:normAutofit fontScale="85000" lnSpcReduction="20000"/>
          </a:bodyPr>
          <a:lstStyle/>
          <a:p>
            <a:pPr marL="0" indent="0">
              <a:spcBef>
                <a:spcPct val="20000"/>
              </a:spcBef>
              <a:spcAft>
                <a:spcPts val="600"/>
              </a:spcAft>
              <a:buNone/>
            </a:pPr>
            <a:r>
              <a:rPr lang="en-US" sz="2600" dirty="0">
                <a:latin typeface="Franklin Gothic Book" panose="020B0503020102020204" pitchFamily="34" charset="0"/>
              </a:rPr>
              <a:t>This section describes the overall strategy followed to design, develop, and deploy the </a:t>
            </a:r>
            <a:r>
              <a:rPr lang="en-US" sz="2600" b="1" dirty="0">
                <a:latin typeface="Franklin Gothic Book" panose="020B0503020102020204" pitchFamily="34" charset="0"/>
              </a:rPr>
              <a:t>AI Student Helpdesk Agent</a:t>
            </a:r>
            <a:r>
              <a:rPr lang="en-US" sz="2600" dirty="0">
                <a:latin typeface="Franklin Gothic Book" panose="020B0503020102020204" pitchFamily="34" charset="0"/>
              </a:rPr>
              <a:t>.</a:t>
            </a:r>
          </a:p>
          <a:p>
            <a:pPr marL="305435" indent="-305435">
              <a:spcBef>
                <a:spcPct val="20000"/>
              </a:spcBef>
              <a:spcAft>
                <a:spcPts val="600"/>
              </a:spcAft>
              <a:buFont typeface="Arial"/>
              <a:buChar char="•"/>
            </a:pPr>
            <a:r>
              <a:rPr lang="en-IN" sz="2400" b="1" dirty="0">
                <a:latin typeface="Franklin Gothic Book" panose="020B0503020102020204" pitchFamily="34" charset="0"/>
              </a:rPr>
              <a:t>System requirements</a:t>
            </a:r>
          </a:p>
          <a:p>
            <a:pPr marL="762635" lvl="1" indent="-305435">
              <a:spcBef>
                <a:spcPct val="20000"/>
              </a:spcBef>
              <a:spcAft>
                <a:spcPts val="600"/>
              </a:spcAft>
              <a:buFont typeface="Arial"/>
              <a:buChar char="•"/>
            </a:pPr>
            <a:r>
              <a:rPr lang="en-US" b="1" dirty="0">
                <a:latin typeface="Franklin Gothic Book" panose="020B0503020102020204" pitchFamily="34" charset="0"/>
              </a:rPr>
              <a:t>Hardware Requirements</a:t>
            </a:r>
            <a:endParaRPr lang="en-IN" b="1" dirty="0">
              <a:latin typeface="Franklin Gothic Book" panose="020B0503020102020204" pitchFamily="34" charset="0"/>
            </a:endParaRPr>
          </a:p>
          <a:p>
            <a:pPr marL="1219835" lvl="2" indent="-305435">
              <a:spcBef>
                <a:spcPct val="20000"/>
              </a:spcBef>
              <a:spcAft>
                <a:spcPts val="600"/>
              </a:spcAft>
              <a:buFont typeface="Arial"/>
              <a:buChar char="•"/>
            </a:pPr>
            <a:r>
              <a:rPr lang="en-US" sz="2400" dirty="0">
                <a:latin typeface="Franklin Gothic Book" panose="020B0503020102020204" pitchFamily="34" charset="0"/>
              </a:rPr>
              <a:t>Computer/Laptop with internet connectivity</a:t>
            </a:r>
          </a:p>
          <a:p>
            <a:pPr marL="1219835" lvl="2" indent="-305435">
              <a:spcBef>
                <a:spcPct val="20000"/>
              </a:spcBef>
              <a:spcAft>
                <a:spcPts val="600"/>
              </a:spcAft>
              <a:buFont typeface="Arial"/>
              <a:buChar char="•"/>
            </a:pPr>
            <a:r>
              <a:rPr lang="en-US" sz="2400" dirty="0">
                <a:latin typeface="Franklin Gothic Book" panose="020B0503020102020204" pitchFamily="34" charset="0"/>
              </a:rPr>
              <a:t>Web browser (Chrome/Edge/Firefox)</a:t>
            </a:r>
          </a:p>
          <a:p>
            <a:pPr marL="1219835" lvl="2" indent="-305435">
              <a:spcBef>
                <a:spcPct val="20000"/>
              </a:spcBef>
              <a:spcAft>
                <a:spcPts val="600"/>
              </a:spcAft>
              <a:buFont typeface="Arial"/>
              <a:buChar char="•"/>
            </a:pPr>
            <a:r>
              <a:rPr lang="en-US" sz="2400" dirty="0">
                <a:latin typeface="Franklin Gothic Book" panose="020B0503020102020204" pitchFamily="34" charset="0"/>
              </a:rPr>
              <a:t>Basic system configuration capable of running web applications</a:t>
            </a:r>
          </a:p>
          <a:p>
            <a:pPr marL="762635" lvl="1" indent="-305435">
              <a:spcBef>
                <a:spcPct val="20000"/>
              </a:spcBef>
              <a:spcAft>
                <a:spcPts val="600"/>
              </a:spcAft>
              <a:buFont typeface="Arial"/>
              <a:buChar char="•"/>
            </a:pPr>
            <a:r>
              <a:rPr lang="en-US" b="1" dirty="0">
                <a:latin typeface="Franklin Gothic Book" panose="020B0503020102020204" pitchFamily="34" charset="0"/>
              </a:rPr>
              <a:t>Software Requirements</a:t>
            </a:r>
          </a:p>
          <a:p>
            <a:pPr marL="1219835" lvl="2" indent="-305435">
              <a:spcBef>
                <a:spcPct val="20000"/>
              </a:spcBef>
              <a:spcAft>
                <a:spcPts val="600"/>
              </a:spcAft>
              <a:buFont typeface="Arial"/>
              <a:buChar char="•"/>
            </a:pPr>
            <a:r>
              <a:rPr lang="en-US" sz="2400" dirty="0">
                <a:latin typeface="Franklin Gothic Book" panose="020B0503020102020204" pitchFamily="34" charset="0"/>
              </a:rPr>
              <a:t>Botpress Cloud platform for chatbot development and deployment</a:t>
            </a:r>
          </a:p>
          <a:p>
            <a:pPr marL="1219835" lvl="2" indent="-305435">
              <a:spcBef>
                <a:spcPct val="20000"/>
              </a:spcBef>
              <a:spcAft>
                <a:spcPts val="600"/>
              </a:spcAft>
              <a:buFont typeface="Arial"/>
              <a:buChar char="•"/>
            </a:pPr>
            <a:r>
              <a:rPr lang="en-US" sz="2400" dirty="0">
                <a:latin typeface="Franklin Gothic Book" panose="020B0503020102020204" pitchFamily="34" charset="0"/>
              </a:rPr>
              <a:t>Web browser for configuring and testing the chatbot</a:t>
            </a:r>
          </a:p>
          <a:p>
            <a:pPr marL="1219835" lvl="2" indent="-305435">
              <a:spcBef>
                <a:spcPct val="20000"/>
              </a:spcBef>
              <a:spcAft>
                <a:spcPts val="600"/>
              </a:spcAft>
              <a:buFont typeface="Arial"/>
              <a:buChar char="•"/>
            </a:pPr>
            <a:r>
              <a:rPr lang="en-US" sz="2400" dirty="0">
                <a:latin typeface="Franklin Gothic Book" panose="020B0503020102020204" pitchFamily="34" charset="0"/>
              </a:rPr>
              <a:t>Access to Large Language Models (LLMs) integrated within Botpress </a:t>
            </a:r>
          </a:p>
          <a:p>
            <a:pPr marL="1219835" lvl="2" indent="-305435">
              <a:spcBef>
                <a:spcPct val="20000"/>
              </a:spcBef>
              <a:spcAft>
                <a:spcPts val="600"/>
              </a:spcAft>
              <a:buFont typeface="Arial"/>
              <a:buChar char="•"/>
            </a:pPr>
            <a:r>
              <a:rPr lang="en-US" sz="2400" dirty="0">
                <a:latin typeface="Franklin Gothic Book" panose="020B0503020102020204" pitchFamily="34" charset="0"/>
              </a:rPr>
              <a:t>Text editor for preparing agent instructions and topic definitions</a:t>
            </a:r>
          </a:p>
          <a:p>
            <a:pPr marL="762635" lvl="1" indent="-305435">
              <a:spcBef>
                <a:spcPct val="20000"/>
              </a:spcBef>
              <a:spcAft>
                <a:spcPts val="600"/>
              </a:spcAft>
              <a:buFont typeface="Arial"/>
              <a:buChar char="•"/>
            </a:pPr>
            <a:r>
              <a:rPr lang="en-US" b="1" dirty="0">
                <a:latin typeface="Franklin Gothic Book" panose="020B0503020102020204" pitchFamily="34" charset="0"/>
              </a:rPr>
              <a:t>Other Requirements</a:t>
            </a:r>
          </a:p>
          <a:p>
            <a:pPr marL="1219835" lvl="2" indent="-305435">
              <a:spcBef>
                <a:spcPct val="20000"/>
              </a:spcBef>
              <a:spcAft>
                <a:spcPts val="600"/>
              </a:spcAft>
              <a:buFont typeface="Arial"/>
              <a:buChar char="•"/>
            </a:pPr>
            <a:r>
              <a:rPr lang="en-US" sz="2400" dirty="0">
                <a:latin typeface="Franklin Gothic Book" panose="020B0503020102020204" pitchFamily="34" charset="0"/>
              </a:rPr>
              <a:t>Clearly defined agent instructions and boundaries</a:t>
            </a:r>
          </a:p>
          <a:p>
            <a:pPr marL="1219835" lvl="2" indent="-305435">
              <a:spcBef>
                <a:spcPct val="20000"/>
              </a:spcBef>
              <a:spcAft>
                <a:spcPts val="600"/>
              </a:spcAft>
              <a:buFont typeface="Arial"/>
              <a:buChar char="•"/>
            </a:pPr>
            <a:r>
              <a:rPr lang="en-US" sz="2400" dirty="0">
                <a:latin typeface="Franklin Gothic Book" panose="020B0503020102020204" pitchFamily="34" charset="0"/>
              </a:rPr>
              <a:t>Structured topic list representing common student concerns</a:t>
            </a:r>
          </a:p>
          <a:p>
            <a:pPr marL="1219835" lvl="2" indent="-305435">
              <a:spcBef>
                <a:spcPct val="20000"/>
              </a:spcBef>
              <a:spcAft>
                <a:spcPts val="600"/>
              </a:spcAft>
              <a:buFont typeface="Arial"/>
              <a:buChar char="•"/>
            </a:pPr>
            <a:r>
              <a:rPr lang="en-US" sz="2400" dirty="0">
                <a:latin typeface="Franklin Gothic Book" panose="020B0503020102020204" pitchFamily="34" charset="0"/>
              </a:rPr>
              <a:t>Internet hosting provided by Botpress for webchat deployment</a:t>
            </a:r>
          </a:p>
        </p:txBody>
      </p:sp>
      <p:sp>
        <p:nvSpPr>
          <p:cNvPr id="9" name="Rectangle 6">
            <a:extLst>
              <a:ext uri="{FF2B5EF4-FFF2-40B4-BE49-F238E27FC236}">
                <a16:creationId xmlns:a16="http://schemas.microsoft.com/office/drawing/2014/main" id="{E2F39132-C865-FF7C-9C07-71BBFF321E0D}"/>
              </a:ext>
            </a:extLst>
          </p:cNvPr>
          <p:cNvSpPr>
            <a:spLocks noChangeArrowheads="1"/>
          </p:cNvSpPr>
          <p:nvPr/>
        </p:nvSpPr>
        <p:spPr bwMode="auto">
          <a:xfrm>
            <a:off x="152400" y="-1707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1125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03B68B-DC3A-3396-092F-8B09DFE9BB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5688F-66B6-D839-B60D-FD435C460220}"/>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0A2B26D3-B8F1-230C-3AD4-55F5BE541EC2}"/>
              </a:ext>
            </a:extLst>
          </p:cNvPr>
          <p:cNvSpPr>
            <a:spLocks noGrp="1"/>
          </p:cNvSpPr>
          <p:nvPr>
            <p:ph idx="1"/>
          </p:nvPr>
        </p:nvSpPr>
        <p:spPr>
          <a:xfrm>
            <a:off x="317409" y="1310640"/>
            <a:ext cx="10515600" cy="5448975"/>
          </a:xfrm>
        </p:spPr>
        <p:txBody>
          <a:bodyPr vert="horz" lIns="91440" tIns="45720" rIns="91440" bIns="45720" rtlCol="0">
            <a:normAutofit lnSpcReduction="10000"/>
          </a:bodyPr>
          <a:lstStyle/>
          <a:p>
            <a:pPr marL="305435" indent="-305435">
              <a:spcBef>
                <a:spcPct val="20000"/>
              </a:spcBef>
              <a:spcAft>
                <a:spcPts val="600"/>
              </a:spcAft>
              <a:buFont typeface="Arial"/>
              <a:buChar char="•"/>
            </a:pPr>
            <a:r>
              <a:rPr lang="en-US" sz="2200" b="1" dirty="0">
                <a:latin typeface="Franklin Gothic Book" panose="020B0503020102020204" pitchFamily="34" charset="0"/>
              </a:rPr>
              <a:t>Libraries / Technologies Used to Build the System</a:t>
            </a:r>
            <a:br>
              <a:rPr lang="en-US" sz="2200" b="1" dirty="0">
                <a:latin typeface="Franklin Gothic Book" panose="020B0503020102020204" pitchFamily="34" charset="0"/>
              </a:rPr>
            </a:br>
            <a:br>
              <a:rPr lang="en-US" sz="2200" dirty="0">
                <a:latin typeface="Franklin Gothic Book" panose="020B0503020102020204" pitchFamily="34" charset="0"/>
              </a:rPr>
            </a:br>
            <a:r>
              <a:rPr lang="en-US" sz="2200" dirty="0">
                <a:latin typeface="Franklin Gothic Book" panose="020B0503020102020204" pitchFamily="34" charset="0"/>
              </a:rPr>
              <a:t>Since the system is built using a no-code / low-code conversational AI platform, traditional programming libraries are minimal. The following technologies power the system:</a:t>
            </a:r>
            <a:endParaRPr lang="en-IN" sz="2200" b="1" dirty="0">
              <a:latin typeface="Franklin Gothic Book" panose="020B0503020102020204" pitchFamily="34" charset="0"/>
            </a:endParaRPr>
          </a:p>
          <a:p>
            <a:pPr marL="762635" lvl="1" indent="-305435">
              <a:spcBef>
                <a:spcPct val="20000"/>
              </a:spcBef>
              <a:spcAft>
                <a:spcPts val="600"/>
              </a:spcAft>
              <a:buFont typeface="Arial"/>
              <a:buChar char="•"/>
            </a:pPr>
            <a:r>
              <a:rPr lang="en-US" sz="2200" b="1" dirty="0">
                <a:latin typeface="Franklin Gothic Book" panose="020B0503020102020204" pitchFamily="34" charset="0"/>
              </a:rPr>
              <a:t>Botpress Cloud</a:t>
            </a:r>
            <a:r>
              <a:rPr lang="en-US" sz="2200" dirty="0">
                <a:latin typeface="Franklin Gothic Book" panose="020B0503020102020204" pitchFamily="34" charset="0"/>
              </a:rPr>
              <a:t> – Platform used to design and deploy the chatbot</a:t>
            </a:r>
          </a:p>
          <a:p>
            <a:pPr marL="762635" lvl="1" indent="-305435">
              <a:spcBef>
                <a:spcPct val="20000"/>
              </a:spcBef>
              <a:spcAft>
                <a:spcPts val="600"/>
              </a:spcAft>
              <a:buFont typeface="Arial"/>
              <a:buChar char="•"/>
            </a:pPr>
            <a:r>
              <a:rPr lang="en-US" sz="2200" b="1" dirty="0">
                <a:latin typeface="Franklin Gothic Book" panose="020B0503020102020204" pitchFamily="34" charset="0"/>
              </a:rPr>
              <a:t>Large Language Model (GPT-4.1)</a:t>
            </a:r>
            <a:r>
              <a:rPr lang="en-US" sz="2200" dirty="0">
                <a:latin typeface="Franklin Gothic Book" panose="020B0503020102020204" pitchFamily="34" charset="0"/>
              </a:rPr>
              <a:t> – Used for understanding and generating responses to student queries</a:t>
            </a:r>
          </a:p>
          <a:p>
            <a:pPr marL="762635" lvl="1" indent="-305435">
              <a:spcBef>
                <a:spcPct val="20000"/>
              </a:spcBef>
              <a:spcAft>
                <a:spcPts val="600"/>
              </a:spcAft>
              <a:buFont typeface="Arial"/>
              <a:buChar char="•"/>
            </a:pPr>
            <a:r>
              <a:rPr lang="en-US" sz="2200" b="1" dirty="0">
                <a:latin typeface="Franklin Gothic Book" panose="020B0503020102020204" pitchFamily="34" charset="0"/>
              </a:rPr>
              <a:t>Webchat Interface</a:t>
            </a:r>
            <a:r>
              <a:rPr lang="en-US" sz="2200" dirty="0">
                <a:latin typeface="Franklin Gothic Book" panose="020B0503020102020204" pitchFamily="34" charset="0"/>
              </a:rPr>
              <a:t> – For providing an accessible browser-based chat experience</a:t>
            </a:r>
          </a:p>
          <a:p>
            <a:pPr marL="762635" lvl="1" indent="-305435">
              <a:spcBef>
                <a:spcPct val="20000"/>
              </a:spcBef>
              <a:spcAft>
                <a:spcPts val="600"/>
              </a:spcAft>
              <a:buFont typeface="Arial"/>
              <a:buChar char="•"/>
            </a:pPr>
            <a:r>
              <a:rPr lang="en-US" sz="2200" b="1" dirty="0">
                <a:latin typeface="Franklin Gothic Book" panose="020B0503020102020204" pitchFamily="34" charset="0"/>
              </a:rPr>
              <a:t>Natural Language Processing (NLP)</a:t>
            </a:r>
            <a:r>
              <a:rPr lang="en-US" sz="2200" dirty="0">
                <a:latin typeface="Franklin Gothic Book" panose="020B0503020102020204" pitchFamily="34" charset="0"/>
              </a:rPr>
              <a:t> – Enables the agent to interpret user queries in natural language</a:t>
            </a:r>
          </a:p>
          <a:p>
            <a:pPr marL="762635" lvl="1" indent="-305435">
              <a:spcBef>
                <a:spcPct val="20000"/>
              </a:spcBef>
              <a:spcAft>
                <a:spcPts val="600"/>
              </a:spcAft>
              <a:buFont typeface="Arial"/>
              <a:buChar char="•"/>
            </a:pPr>
            <a:r>
              <a:rPr lang="en-US" sz="2200" b="1" dirty="0">
                <a:latin typeface="Franklin Gothic Book" panose="020B0503020102020204" pitchFamily="34" charset="0"/>
              </a:rPr>
              <a:t>Instruction-based AI Design</a:t>
            </a:r>
            <a:r>
              <a:rPr lang="en-US" sz="2200" dirty="0">
                <a:latin typeface="Franklin Gothic Book" panose="020B0503020102020204" pitchFamily="34" charset="0"/>
              </a:rPr>
              <a:t> – Custom instructions that guide the agent’s behavior and response boundaries</a:t>
            </a:r>
            <a:endParaRPr lang="en-IN" sz="2200" b="1" dirty="0">
              <a:latin typeface="Franklin Gothic Book" panose="020B0503020102020204" pitchFamily="34" charset="0"/>
            </a:endParaRPr>
          </a:p>
          <a:p>
            <a:pPr marL="457200" lvl="1" indent="0">
              <a:spcBef>
                <a:spcPct val="20000"/>
              </a:spcBef>
              <a:spcAft>
                <a:spcPts val="600"/>
              </a:spcAft>
              <a:buNone/>
            </a:pPr>
            <a:r>
              <a:rPr lang="en-US" sz="2200" dirty="0">
                <a:latin typeface="Franklin Gothic Book" panose="020B0503020102020204" pitchFamily="34" charset="0"/>
              </a:rPr>
              <a:t>This approach ensures that the system is lightweight, easy to deploy, requires minimal coding effort, and focuses primarily on intelligent guidance delivery for students.</a:t>
            </a:r>
          </a:p>
        </p:txBody>
      </p:sp>
      <p:sp>
        <p:nvSpPr>
          <p:cNvPr id="9" name="Rectangle 6">
            <a:extLst>
              <a:ext uri="{FF2B5EF4-FFF2-40B4-BE49-F238E27FC236}">
                <a16:creationId xmlns:a16="http://schemas.microsoft.com/office/drawing/2014/main" id="{643F5E0D-DCE5-4127-1CE9-3D65D4F7F718}"/>
              </a:ext>
            </a:extLst>
          </p:cNvPr>
          <p:cNvSpPr>
            <a:spLocks noChangeArrowheads="1"/>
          </p:cNvSpPr>
          <p:nvPr/>
        </p:nvSpPr>
        <p:spPr bwMode="auto">
          <a:xfrm>
            <a:off x="152400" y="-1707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5785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324573" y="1568371"/>
            <a:ext cx="10515600" cy="5289629"/>
          </a:xfrm>
        </p:spPr>
        <p:txBody>
          <a:bodyPr vert="horz" lIns="91440" tIns="45720" rIns="91440" bIns="45720" rtlCol="0">
            <a:normAutofit/>
          </a:bodyPr>
          <a:lstStyle/>
          <a:p>
            <a:pPr marL="0" indent="0">
              <a:spcBef>
                <a:spcPct val="20000"/>
              </a:spcBef>
              <a:spcAft>
                <a:spcPts val="600"/>
              </a:spcAft>
              <a:buNone/>
            </a:pPr>
            <a:r>
              <a:rPr lang="en-US" sz="1600" b="1" dirty="0">
                <a:latin typeface="Franklin Gothic Book" panose="020B0503020102020204" pitchFamily="34" charset="0"/>
              </a:rPr>
              <a:t>Algorithm (How the Agent Works Internally)</a:t>
            </a:r>
            <a:endParaRPr lang="en-IN" sz="1600" b="1" dirty="0">
              <a:latin typeface="Franklin Gothic Book" panose="020B0503020102020204" pitchFamily="34" charset="0"/>
            </a:endParaRPr>
          </a:p>
          <a:p>
            <a:pPr marL="305435" indent="-305435">
              <a:spcBef>
                <a:spcPct val="20000"/>
              </a:spcBef>
              <a:spcAft>
                <a:spcPts val="600"/>
              </a:spcAft>
              <a:buFont typeface="Arial"/>
              <a:buChar char="•"/>
            </a:pPr>
            <a:r>
              <a:rPr lang="en-US" sz="1600" b="1" dirty="0">
                <a:latin typeface="Franklin Gothic Book" panose="020B0503020102020204" pitchFamily="34" charset="0"/>
              </a:rPr>
              <a:t>Algorithm Type: Instruction-Driven Conversational AI</a:t>
            </a:r>
            <a:endParaRPr lang="en-IN" sz="1600" b="1" dirty="0">
              <a:latin typeface="Franklin Gothic Book" panose="020B0503020102020204" pitchFamily="34" charset="0"/>
            </a:endParaRPr>
          </a:p>
          <a:p>
            <a:pPr marL="629920" lvl="1" indent="-305435">
              <a:spcBef>
                <a:spcPct val="20000"/>
              </a:spcBef>
              <a:spcAft>
                <a:spcPts val="600"/>
              </a:spcAft>
              <a:buFont typeface="Arial"/>
              <a:buChar char="•"/>
            </a:pPr>
            <a:r>
              <a:rPr lang="en-US" sz="1600" dirty="0">
                <a:latin typeface="Franklin Gothic Book" panose="020B0503020102020204" pitchFamily="34" charset="0"/>
              </a:rPr>
              <a:t>The AI Student Helpdesk Agent does not use traditional machine learning prediction algorithms.</a:t>
            </a:r>
            <a:br>
              <a:rPr lang="en-US" sz="1600" dirty="0">
                <a:latin typeface="Franklin Gothic Book" panose="020B0503020102020204" pitchFamily="34" charset="0"/>
              </a:rPr>
            </a:br>
            <a:r>
              <a:rPr lang="en-US" sz="1600" dirty="0">
                <a:latin typeface="Franklin Gothic Book" panose="020B0503020102020204" pitchFamily="34" charset="0"/>
              </a:rPr>
              <a:t>Instead, it follows an </a:t>
            </a:r>
            <a:r>
              <a:rPr lang="en-US" sz="1600" b="1" dirty="0">
                <a:latin typeface="Franklin Gothic Book" panose="020B0503020102020204" pitchFamily="34" charset="0"/>
              </a:rPr>
              <a:t>instruction-based conversational algorithm</a:t>
            </a:r>
            <a:r>
              <a:rPr lang="en-US" sz="1600" dirty="0">
                <a:latin typeface="Franklin Gothic Book" panose="020B0503020102020204" pitchFamily="34" charset="0"/>
              </a:rPr>
              <a:t> powered by a Large Language Model (LLM).</a:t>
            </a:r>
            <a:endParaRPr lang="en-IN" sz="1600" dirty="0">
              <a:latin typeface="Franklin Gothic Book" panose="020B0503020102020204" pitchFamily="34" charset="0"/>
            </a:endParaRPr>
          </a:p>
          <a:p>
            <a:pPr marL="305435" indent="-305435">
              <a:spcBef>
                <a:spcPct val="20000"/>
              </a:spcBef>
              <a:spcAft>
                <a:spcPts val="600"/>
              </a:spcAft>
              <a:buFont typeface="Arial"/>
              <a:buChar char="•"/>
            </a:pPr>
            <a:r>
              <a:rPr lang="en-US" sz="1600" b="1" dirty="0">
                <a:latin typeface="Franklin Gothic Book" panose="020B0503020102020204" pitchFamily="34" charset="0"/>
              </a:rPr>
              <a:t>Working Logic of the Agent:</a:t>
            </a:r>
          </a:p>
          <a:p>
            <a:pPr marL="762635" lvl="1" indent="-305435">
              <a:spcBef>
                <a:spcPct val="20000"/>
              </a:spcBef>
              <a:spcAft>
                <a:spcPts val="600"/>
              </a:spcAft>
              <a:buFont typeface="+mj-lt"/>
              <a:buAutoNum type="arabicPeriod"/>
            </a:pPr>
            <a:r>
              <a:rPr lang="en-US" sz="1600" dirty="0">
                <a:latin typeface="Franklin Gothic Book" panose="020B0503020102020204" pitchFamily="34" charset="0"/>
              </a:rPr>
              <a:t>User enters a query in natural language.</a:t>
            </a:r>
          </a:p>
          <a:p>
            <a:pPr marL="762635" lvl="1" indent="-305435">
              <a:spcBef>
                <a:spcPct val="20000"/>
              </a:spcBef>
              <a:spcAft>
                <a:spcPts val="600"/>
              </a:spcAft>
              <a:buFont typeface="+mj-lt"/>
              <a:buAutoNum type="arabicPeriod"/>
            </a:pPr>
            <a:r>
              <a:rPr lang="en-US" sz="1600" dirty="0">
                <a:latin typeface="Franklin Gothic Book" panose="020B0503020102020204" pitchFamily="34" charset="0"/>
              </a:rPr>
              <a:t>The LLM interprets the intent of the query using NLP.</a:t>
            </a:r>
          </a:p>
          <a:p>
            <a:pPr marL="762635" lvl="1" indent="-305435">
              <a:spcBef>
                <a:spcPct val="20000"/>
              </a:spcBef>
              <a:spcAft>
                <a:spcPts val="600"/>
              </a:spcAft>
              <a:buFont typeface="+mj-lt"/>
              <a:buAutoNum type="arabicPeriod"/>
            </a:pPr>
            <a:r>
              <a:rPr lang="en-US" sz="1600" dirty="0">
                <a:latin typeface="Franklin Gothic Book" panose="020B0503020102020204" pitchFamily="34" charset="0"/>
              </a:rPr>
              <a:t>The agent maps the query to one of the predefined guidance topics:</a:t>
            </a:r>
            <a:endParaRPr lang="en-IN" sz="1600" dirty="0">
              <a:latin typeface="Franklin Gothic Book" panose="020B0503020102020204" pitchFamily="34" charset="0"/>
            </a:endParaRPr>
          </a:p>
          <a:p>
            <a:pPr marL="781685" lvl="2" indent="0">
              <a:spcBef>
                <a:spcPct val="20000"/>
              </a:spcBef>
              <a:spcAft>
                <a:spcPts val="600"/>
              </a:spcAft>
              <a:buNone/>
            </a:pPr>
            <a:r>
              <a:rPr lang="en-US" sz="1600" dirty="0">
                <a:latin typeface="Franklin Gothic Book" panose="020B0503020102020204" pitchFamily="34" charset="0"/>
              </a:rPr>
              <a:t>Attendance guidance, Exam preparation &amp; stress management, Study techniques, Time management, Scholarship awareness, Communication help, Motivation &amp; productivity, Campus life guidance </a:t>
            </a:r>
            <a:endParaRPr lang="en-IN" sz="1600" dirty="0">
              <a:latin typeface="Franklin Gothic Book" panose="020B0503020102020204" pitchFamily="34" charset="0"/>
            </a:endParaRPr>
          </a:p>
          <a:p>
            <a:pPr marL="762635" lvl="1" indent="-305435">
              <a:spcBef>
                <a:spcPct val="20000"/>
              </a:spcBef>
              <a:spcAft>
                <a:spcPts val="600"/>
              </a:spcAft>
              <a:buFont typeface="+mj-lt"/>
              <a:buAutoNum type="arabicPeriod"/>
            </a:pPr>
            <a:r>
              <a:rPr lang="en-US" sz="1600" dirty="0">
                <a:latin typeface="Franklin Gothic Book" panose="020B0503020102020204" pitchFamily="34" charset="0"/>
              </a:rPr>
              <a:t>The agent checks its instruction boundaries: Must provide guidance only  &amp; Must not solve subject problems</a:t>
            </a:r>
          </a:p>
          <a:p>
            <a:pPr marL="762635" lvl="1" indent="-305435">
              <a:spcBef>
                <a:spcPct val="20000"/>
              </a:spcBef>
              <a:spcAft>
                <a:spcPts val="600"/>
              </a:spcAft>
              <a:buFont typeface="+mj-lt"/>
              <a:buAutoNum type="arabicPeriod"/>
            </a:pPr>
            <a:r>
              <a:rPr lang="en-US" sz="1600" dirty="0">
                <a:latin typeface="Franklin Gothic Book" panose="020B0503020102020204" pitchFamily="34" charset="0"/>
              </a:rPr>
              <a:t>Based on the matched topic and rules, the agent generates an appropriate guidance response.</a:t>
            </a:r>
          </a:p>
          <a:p>
            <a:pPr marL="762635" lvl="1" indent="-305435">
              <a:spcBef>
                <a:spcPct val="20000"/>
              </a:spcBef>
              <a:spcAft>
                <a:spcPts val="600"/>
              </a:spcAft>
              <a:buFont typeface="+mj-lt"/>
              <a:buAutoNum type="arabicPeriod"/>
            </a:pPr>
            <a:r>
              <a:rPr lang="en-US" sz="1600" dirty="0">
                <a:latin typeface="Franklin Gothic Book" panose="020B0503020102020204" pitchFamily="34" charset="0"/>
              </a:rPr>
              <a:t>The conversation continues until the user’s concern is addressed.</a:t>
            </a:r>
            <a:br>
              <a:rPr lang="en-US" sz="1600" dirty="0">
                <a:latin typeface="Franklin Gothic Book" panose="020B0503020102020204" pitchFamily="34" charset="0"/>
              </a:rPr>
            </a:br>
            <a:endParaRPr lang="en-US" sz="1600" dirty="0">
              <a:latin typeface="Franklin Gothic Book" panose="020B0503020102020204" pitchFamily="34" charset="0"/>
            </a:endParaRPr>
          </a:p>
          <a:p>
            <a:pPr marL="629920" lvl="1" indent="-305435">
              <a:spcBef>
                <a:spcPct val="20000"/>
              </a:spcBef>
              <a:spcAft>
                <a:spcPts val="600"/>
              </a:spcAft>
              <a:buFont typeface="Arial"/>
              <a:buChar char="•"/>
            </a:pPr>
            <a:r>
              <a:rPr lang="en-US" sz="1600" dirty="0">
                <a:latin typeface="Franklin Gothic Book" panose="020B0503020102020204" pitchFamily="34" charset="0"/>
              </a:rPr>
              <a:t>This process happens dynamically for every user query without needing manual topic selection.</a:t>
            </a:r>
          </a:p>
        </p:txBody>
      </p:sp>
    </p:spTree>
    <p:extLst>
      <p:ext uri="{BB962C8B-B14F-4D97-AF65-F5344CB8AC3E}">
        <p14:creationId xmlns:p14="http://schemas.microsoft.com/office/powerpoint/2010/main" val="1199084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BE9CB5-8570-33A4-D5C4-E0D8DF400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ABDFC-376E-5D98-55E5-9FA71856743E}"/>
              </a:ext>
            </a:extLst>
          </p:cNvPr>
          <p:cNvSpPr>
            <a:spLocks noGrp="1"/>
          </p:cNvSpPr>
          <p:nvPr>
            <p:ph type="title"/>
          </p:nvPr>
        </p:nvSpPr>
        <p:spPr>
          <a:xfrm>
            <a:off x="-1191" y="686595"/>
            <a:ext cx="10515600" cy="609771"/>
          </a:xfrm>
        </p:spPr>
        <p:txBody>
          <a:bodyPr lIns="91440" tIns="45720" rIns="91440" bIns="45720" anchor="t">
            <a:normAutofit fontScale="90000"/>
          </a:bodyPr>
          <a:lstStyle/>
          <a:p>
            <a:r>
              <a:rPr lang="en-US" sz="4000" b="1" cap="all" dirty="0">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228BB0FF-00D8-B8D6-7427-598CF7E3E43D}"/>
              </a:ext>
            </a:extLst>
          </p:cNvPr>
          <p:cNvSpPr>
            <a:spLocks noGrp="1"/>
          </p:cNvSpPr>
          <p:nvPr>
            <p:ph idx="1"/>
          </p:nvPr>
        </p:nvSpPr>
        <p:spPr>
          <a:xfrm>
            <a:off x="266700" y="1296366"/>
            <a:ext cx="10515600" cy="5092860"/>
          </a:xfrm>
        </p:spPr>
        <p:txBody>
          <a:bodyPr vert="horz" lIns="91440" tIns="45720" rIns="91440" bIns="45720" rtlCol="0">
            <a:noAutofit/>
          </a:bodyPr>
          <a:lstStyle/>
          <a:p>
            <a:pPr marL="0" indent="0">
              <a:spcBef>
                <a:spcPct val="20000"/>
              </a:spcBef>
              <a:spcAft>
                <a:spcPts val="600"/>
              </a:spcAft>
              <a:buNone/>
            </a:pPr>
            <a:r>
              <a:rPr lang="en-US" sz="2100" b="1" dirty="0">
                <a:latin typeface="Franklin Gothic Book" panose="020B0503020102020204" pitchFamily="34" charset="0"/>
              </a:rPr>
              <a:t>Deployment :</a:t>
            </a:r>
            <a:br>
              <a:rPr lang="en-US" sz="2100" b="1" dirty="0">
                <a:latin typeface="Franklin Gothic Book" panose="020B0503020102020204" pitchFamily="34" charset="0"/>
              </a:rPr>
            </a:br>
            <a:r>
              <a:rPr lang="en-US" sz="2100" dirty="0">
                <a:latin typeface="Franklin Gothic Book" panose="020B0503020102020204" pitchFamily="34" charset="0"/>
              </a:rPr>
              <a:t>The AI Student Helpdesk Agent is deployed using </a:t>
            </a:r>
            <a:r>
              <a:rPr lang="en-US" sz="2100" b="1" dirty="0">
                <a:latin typeface="Franklin Gothic Book" panose="020B0503020102020204" pitchFamily="34" charset="0"/>
              </a:rPr>
              <a:t>Botpress Cloud Webchat</a:t>
            </a:r>
            <a:r>
              <a:rPr lang="en-US" sz="2100" dirty="0">
                <a:latin typeface="Franklin Gothic Book" panose="020B0503020102020204" pitchFamily="34" charset="0"/>
              </a:rPr>
              <a:t>, which provides:</a:t>
            </a:r>
          </a:p>
          <a:p>
            <a:pPr>
              <a:spcBef>
                <a:spcPct val="20000"/>
              </a:spcBef>
              <a:spcAft>
                <a:spcPts val="600"/>
              </a:spcAft>
            </a:pPr>
            <a:r>
              <a:rPr lang="en-US" sz="2100" dirty="0">
                <a:latin typeface="Franklin Gothic Book" panose="020B0503020102020204" pitchFamily="34" charset="0"/>
              </a:rPr>
              <a:t>A browser-based chat interface</a:t>
            </a:r>
          </a:p>
          <a:p>
            <a:pPr>
              <a:spcBef>
                <a:spcPct val="20000"/>
              </a:spcBef>
              <a:spcAft>
                <a:spcPts val="600"/>
              </a:spcAft>
            </a:pPr>
            <a:r>
              <a:rPr lang="en-US" sz="2100" dirty="0">
                <a:latin typeface="Franklin Gothic Book" panose="020B0503020102020204" pitchFamily="34" charset="0"/>
              </a:rPr>
              <a:t>Public demo link for access</a:t>
            </a:r>
          </a:p>
          <a:p>
            <a:pPr>
              <a:spcBef>
                <a:spcPct val="20000"/>
              </a:spcBef>
              <a:spcAft>
                <a:spcPts val="600"/>
              </a:spcAft>
            </a:pPr>
            <a:r>
              <a:rPr lang="en-US" sz="2100" dirty="0">
                <a:latin typeface="Franklin Gothic Book" panose="020B0503020102020204" pitchFamily="34" charset="0"/>
              </a:rPr>
              <a:t>Real-time interaction with users</a:t>
            </a:r>
          </a:p>
          <a:p>
            <a:pPr>
              <a:spcBef>
                <a:spcPct val="20000"/>
              </a:spcBef>
              <a:spcAft>
                <a:spcPts val="600"/>
              </a:spcAft>
            </a:pPr>
            <a:r>
              <a:rPr lang="en-US" sz="2100" dirty="0">
                <a:latin typeface="Franklin Gothic Book" panose="020B0503020102020204" pitchFamily="34" charset="0"/>
              </a:rPr>
              <a:t>No additional installation required</a:t>
            </a:r>
          </a:p>
          <a:p>
            <a:pPr marL="0" indent="0">
              <a:spcBef>
                <a:spcPct val="20000"/>
              </a:spcBef>
              <a:spcAft>
                <a:spcPts val="600"/>
              </a:spcAft>
              <a:buNone/>
            </a:pPr>
            <a:r>
              <a:rPr lang="en-US" sz="2100" b="1" dirty="0">
                <a:latin typeface="Franklin Gothic Book" panose="020B0503020102020204" pitchFamily="34" charset="0"/>
              </a:rPr>
              <a:t>Deployment Steps:</a:t>
            </a:r>
          </a:p>
          <a:p>
            <a:pPr marL="342900" indent="-342900">
              <a:spcBef>
                <a:spcPct val="20000"/>
              </a:spcBef>
              <a:spcAft>
                <a:spcPts val="600"/>
              </a:spcAft>
              <a:buFont typeface="+mj-lt"/>
              <a:buAutoNum type="arabicPeriod"/>
            </a:pPr>
            <a:r>
              <a:rPr lang="en-US" sz="2100" dirty="0">
                <a:latin typeface="Franklin Gothic Book" panose="020B0503020102020204" pitchFamily="34" charset="0"/>
              </a:rPr>
              <a:t>Agent instructions and topics configured in Botpress.</a:t>
            </a:r>
          </a:p>
          <a:p>
            <a:pPr marL="342900" indent="-342900">
              <a:spcBef>
                <a:spcPct val="20000"/>
              </a:spcBef>
              <a:spcAft>
                <a:spcPts val="600"/>
              </a:spcAft>
              <a:buFont typeface="+mj-lt"/>
              <a:buAutoNum type="arabicPeriod"/>
            </a:pPr>
            <a:r>
              <a:rPr lang="en-US" sz="2100" dirty="0">
                <a:latin typeface="Franklin Gothic Book" panose="020B0503020102020204" pitchFamily="34" charset="0"/>
              </a:rPr>
              <a:t>LLM (GPT-4.1) integrated as the response engine.</a:t>
            </a:r>
          </a:p>
          <a:p>
            <a:pPr marL="342900" indent="-342900">
              <a:spcBef>
                <a:spcPct val="20000"/>
              </a:spcBef>
              <a:spcAft>
                <a:spcPts val="600"/>
              </a:spcAft>
              <a:buFont typeface="+mj-lt"/>
              <a:buAutoNum type="arabicPeriod"/>
            </a:pPr>
            <a:r>
              <a:rPr lang="en-US" sz="2100" dirty="0">
                <a:latin typeface="Franklin Gothic Book" panose="020B0503020102020204" pitchFamily="34" charset="0"/>
              </a:rPr>
              <a:t>Webchat interface customized with bot name and appearance.</a:t>
            </a:r>
          </a:p>
          <a:p>
            <a:pPr marL="342900" indent="-342900">
              <a:spcBef>
                <a:spcPct val="20000"/>
              </a:spcBef>
              <a:spcAft>
                <a:spcPts val="600"/>
              </a:spcAft>
              <a:buFont typeface="+mj-lt"/>
              <a:buAutoNum type="arabicPeriod"/>
            </a:pPr>
            <a:r>
              <a:rPr lang="en-US" sz="2100" dirty="0">
                <a:latin typeface="Franklin Gothic Book" panose="020B0503020102020204" pitchFamily="34" charset="0"/>
              </a:rPr>
              <a:t>Bot published to generate a public demo link.</a:t>
            </a:r>
          </a:p>
          <a:p>
            <a:pPr marL="342900" indent="-342900">
              <a:spcBef>
                <a:spcPct val="20000"/>
              </a:spcBef>
              <a:spcAft>
                <a:spcPts val="600"/>
              </a:spcAft>
              <a:buFont typeface="+mj-lt"/>
              <a:buAutoNum type="arabicPeriod"/>
            </a:pPr>
            <a:r>
              <a:rPr lang="en-US" sz="2100" dirty="0">
                <a:latin typeface="Franklin Gothic Book" panose="020B0503020102020204" pitchFamily="34" charset="0"/>
              </a:rPr>
              <a:t>Users access the agent through the webchat link and interact in real time</a:t>
            </a:r>
            <a:r>
              <a:rPr lang="en-US" sz="2200" dirty="0">
                <a:latin typeface="Franklin Gothic Book" panose="020B0503020102020204" pitchFamily="34" charset="0"/>
              </a:rPr>
              <a:t>.</a:t>
            </a:r>
          </a:p>
        </p:txBody>
      </p:sp>
      <p:sp>
        <p:nvSpPr>
          <p:cNvPr id="4" name="TextBox 3">
            <a:extLst>
              <a:ext uri="{FF2B5EF4-FFF2-40B4-BE49-F238E27FC236}">
                <a16:creationId xmlns:a16="http://schemas.microsoft.com/office/drawing/2014/main" id="{77A9E99B-1215-55E8-9701-253B0BB8DF14}"/>
              </a:ext>
            </a:extLst>
          </p:cNvPr>
          <p:cNvSpPr txBox="1"/>
          <p:nvPr/>
        </p:nvSpPr>
        <p:spPr>
          <a:xfrm>
            <a:off x="4872942" y="2210765"/>
            <a:ext cx="7141580" cy="1477328"/>
          </a:xfrm>
          <a:prstGeom prst="rect">
            <a:avLst/>
          </a:prstGeom>
          <a:noFill/>
          <a:ln>
            <a:solidFill>
              <a:schemeClr val="tx1"/>
            </a:solidFill>
          </a:ln>
        </p:spPr>
        <p:txBody>
          <a:bodyPr wrap="square" rtlCol="0">
            <a:spAutoFit/>
          </a:bodyPr>
          <a:lstStyle/>
          <a:p>
            <a:r>
              <a:rPr lang="en-US" dirty="0"/>
              <a:t>The deployment link to access the AI Student Helpdesk Agent created under this project: </a:t>
            </a:r>
            <a:r>
              <a:rPr lang="en-US" u="sng" dirty="0">
                <a:hlinkClick r:id="rId2"/>
              </a:rPr>
              <a:t>https://cdn.botpress.cloud/webchat/v3.5/shareable.html?configUrl=https://files.bpcontent.cloud/2026/01/30/14/20260130141244-0L418N3V.json</a:t>
            </a:r>
            <a:endParaRPr lang="en-US" dirty="0"/>
          </a:p>
        </p:txBody>
      </p:sp>
    </p:spTree>
    <p:extLst>
      <p:ext uri="{BB962C8B-B14F-4D97-AF65-F5344CB8AC3E}">
        <p14:creationId xmlns:p14="http://schemas.microsoft.com/office/powerpoint/2010/main" val="3217599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331089"/>
            <a:ext cx="10515600" cy="5359078"/>
          </a:xfrm>
        </p:spPr>
        <p:txBody>
          <a:bodyPr vert="horz" lIns="91440" tIns="45720" rIns="91440" bIns="45720" rtlCol="0">
            <a:normAutofit/>
          </a:bodyPr>
          <a:lstStyle/>
          <a:p>
            <a:pPr marL="0" indent="0">
              <a:buNone/>
            </a:pPr>
            <a:r>
              <a:rPr lang="en-US" sz="2200" dirty="0">
                <a:latin typeface="Franklin Gothic Book" panose="020B0503020102020204" pitchFamily="34" charset="0"/>
              </a:rPr>
              <a:t>The AI Student Helpdesk Agent was tested with various real-world student queries across multiple guidance categories. The agent successfully understood user intent using natural language input and provided appropriate guidance responses based on its predefined topics and instruction rules.</a:t>
            </a:r>
          </a:p>
          <a:p>
            <a:pPr marL="0" indent="0">
              <a:buNone/>
            </a:pPr>
            <a:r>
              <a:rPr lang="en-US" sz="2200" dirty="0">
                <a:latin typeface="Franklin Gothic Book" panose="020B0503020102020204" pitchFamily="34" charset="0"/>
              </a:rPr>
              <a:t>The agent demonstrated the following results:</a:t>
            </a:r>
          </a:p>
          <a:p>
            <a:r>
              <a:rPr lang="en-US" sz="2200" dirty="0">
                <a:latin typeface="Franklin Gothic Book" panose="020B0503020102020204" pitchFamily="34" charset="0"/>
              </a:rPr>
              <a:t>Correctly guided students on attendance, exam stress, study methods, time management, scholarships, communication, and motivation.</a:t>
            </a:r>
          </a:p>
          <a:p>
            <a:r>
              <a:rPr lang="en-US" sz="2200" dirty="0">
                <a:latin typeface="Franklin Gothic Book" panose="020B0503020102020204" pitchFamily="34" charset="0"/>
              </a:rPr>
              <a:t>Maintained strict instruction boundaries by refusing to solve subject-related academic problems and redirecting users to guidance.</a:t>
            </a:r>
          </a:p>
          <a:p>
            <a:r>
              <a:rPr lang="en-US" sz="2200" dirty="0">
                <a:latin typeface="Franklin Gothic Book" panose="020B0503020102020204" pitchFamily="34" charset="0"/>
              </a:rPr>
              <a:t>Provided real-time, conversational responses through the webchat interface.</a:t>
            </a:r>
          </a:p>
          <a:p>
            <a:r>
              <a:rPr lang="en-US" sz="2200" dirty="0">
                <a:latin typeface="Franklin Gothic Book" panose="020B0503020102020204" pitchFamily="34" charset="0"/>
              </a:rPr>
              <a:t>Handled greetings and conversational interactions naturally.</a:t>
            </a:r>
          </a:p>
          <a:p>
            <a:pPr marL="0" indent="0">
              <a:buNone/>
            </a:pPr>
            <a:r>
              <a:rPr lang="en-US" sz="2200" dirty="0">
                <a:latin typeface="Franklin Gothic Book" panose="020B0503020102020204" pitchFamily="34" charset="0"/>
              </a:rPr>
              <a:t>The effectiveness of the system was validated through multiple test conversations, and screenshots of these interactions are included below as visual proof of the agent’s performance.</a:t>
            </a:r>
          </a:p>
          <a:p>
            <a:pPr marL="0" indent="0">
              <a:buNone/>
            </a:pPr>
            <a:endParaRPr lang="en-US" sz="2200" dirty="0"/>
          </a:p>
        </p:txBody>
      </p:sp>
    </p:spTree>
    <p:extLst>
      <p:ext uri="{BB962C8B-B14F-4D97-AF65-F5344CB8AC3E}">
        <p14:creationId xmlns:p14="http://schemas.microsoft.com/office/powerpoint/2010/main" val="58742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AB9C6C-961B-70CF-2A08-DB4AC9BA0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2DE7A-17E0-8597-245A-F2D6CF955F41}"/>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Results 1:</a:t>
            </a:r>
            <a:endParaRPr lang="en-US" sz="4000" dirty="0"/>
          </a:p>
        </p:txBody>
      </p:sp>
      <p:sp>
        <p:nvSpPr>
          <p:cNvPr id="3" name="Content Placeholder 2">
            <a:extLst>
              <a:ext uri="{FF2B5EF4-FFF2-40B4-BE49-F238E27FC236}">
                <a16:creationId xmlns:a16="http://schemas.microsoft.com/office/drawing/2014/main" id="{1EAF2656-CC70-F987-7122-D4E4F998ADF4}"/>
              </a:ext>
            </a:extLst>
          </p:cNvPr>
          <p:cNvSpPr>
            <a:spLocks noGrp="1"/>
          </p:cNvSpPr>
          <p:nvPr>
            <p:ph idx="1"/>
          </p:nvPr>
        </p:nvSpPr>
        <p:spPr>
          <a:xfrm>
            <a:off x="338137" y="4699322"/>
            <a:ext cx="10515600" cy="1643606"/>
          </a:xfrm>
        </p:spPr>
        <p:txBody>
          <a:bodyPr vert="horz" lIns="91440" tIns="45720" rIns="91440" bIns="45720" rtlCol="0">
            <a:normAutofit/>
          </a:bodyPr>
          <a:lstStyle/>
          <a:p>
            <a:pPr marL="0" indent="0">
              <a:buNone/>
            </a:pPr>
            <a:br>
              <a:rPr lang="en-US" sz="2200" dirty="0"/>
            </a:br>
            <a:endParaRPr lang="en-US" sz="2200" dirty="0"/>
          </a:p>
        </p:txBody>
      </p:sp>
      <p:pic>
        <p:nvPicPr>
          <p:cNvPr id="8" name="Picture 7">
            <a:extLst>
              <a:ext uri="{FF2B5EF4-FFF2-40B4-BE49-F238E27FC236}">
                <a16:creationId xmlns:a16="http://schemas.microsoft.com/office/drawing/2014/main" id="{97485A4A-BF82-2697-DC41-D409DCE2A0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137" y="1451070"/>
            <a:ext cx="10774279" cy="3067478"/>
          </a:xfrm>
          <a:prstGeom prst="rect">
            <a:avLst/>
          </a:prstGeom>
        </p:spPr>
      </p:pic>
      <p:sp>
        <p:nvSpPr>
          <p:cNvPr id="10" name="TextBox 9">
            <a:extLst>
              <a:ext uri="{FF2B5EF4-FFF2-40B4-BE49-F238E27FC236}">
                <a16:creationId xmlns:a16="http://schemas.microsoft.com/office/drawing/2014/main" id="{EDD5FB29-BEB0-021F-FC7A-7EB8F7CD8CE8}"/>
              </a:ext>
            </a:extLst>
          </p:cNvPr>
          <p:cNvSpPr txBox="1"/>
          <p:nvPr/>
        </p:nvSpPr>
        <p:spPr>
          <a:xfrm>
            <a:off x="338137" y="4950738"/>
            <a:ext cx="9581368" cy="369332"/>
          </a:xfrm>
          <a:prstGeom prst="rect">
            <a:avLst/>
          </a:prstGeom>
          <a:noFill/>
        </p:spPr>
        <p:txBody>
          <a:bodyPr wrap="square" rtlCol="0">
            <a:spAutoFit/>
          </a:bodyPr>
          <a:lstStyle/>
          <a:p>
            <a:r>
              <a:rPr lang="en-US" dirty="0">
                <a:highlight>
                  <a:srgbClr val="FFFF00"/>
                </a:highlight>
              </a:rPr>
              <a:t>The agent responds politely to basic greetings and initiates a helpful conversation with the user.</a:t>
            </a:r>
          </a:p>
        </p:txBody>
      </p:sp>
    </p:spTree>
    <p:extLst>
      <p:ext uri="{BB962C8B-B14F-4D97-AF65-F5344CB8AC3E}">
        <p14:creationId xmlns:p14="http://schemas.microsoft.com/office/powerpoint/2010/main" val="2097358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CB8F65-BE92-1BD2-8F69-50B6317B03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0E35A-9136-9E45-2322-582280E63F54}"/>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Results 2:</a:t>
            </a:r>
            <a:endParaRPr lang="en-US" sz="4000" dirty="0"/>
          </a:p>
        </p:txBody>
      </p:sp>
      <p:sp>
        <p:nvSpPr>
          <p:cNvPr id="3" name="Content Placeholder 2">
            <a:extLst>
              <a:ext uri="{FF2B5EF4-FFF2-40B4-BE49-F238E27FC236}">
                <a16:creationId xmlns:a16="http://schemas.microsoft.com/office/drawing/2014/main" id="{42E3F6F7-46EE-2ED8-7E91-E479F0ADE0BF}"/>
              </a:ext>
            </a:extLst>
          </p:cNvPr>
          <p:cNvSpPr>
            <a:spLocks noGrp="1"/>
          </p:cNvSpPr>
          <p:nvPr>
            <p:ph idx="1"/>
          </p:nvPr>
        </p:nvSpPr>
        <p:spPr>
          <a:xfrm>
            <a:off x="338137" y="4699322"/>
            <a:ext cx="10515600" cy="1643606"/>
          </a:xfrm>
        </p:spPr>
        <p:txBody>
          <a:bodyPr vert="horz" lIns="91440" tIns="45720" rIns="91440" bIns="45720" rtlCol="0">
            <a:normAutofit/>
          </a:bodyPr>
          <a:lstStyle/>
          <a:p>
            <a:pPr marL="0" indent="0">
              <a:buNone/>
            </a:pPr>
            <a:br>
              <a:rPr lang="en-US" sz="2200" dirty="0"/>
            </a:br>
            <a:endParaRPr lang="en-US" sz="2200" dirty="0"/>
          </a:p>
        </p:txBody>
      </p:sp>
      <p:sp>
        <p:nvSpPr>
          <p:cNvPr id="10" name="TextBox 9">
            <a:extLst>
              <a:ext uri="{FF2B5EF4-FFF2-40B4-BE49-F238E27FC236}">
                <a16:creationId xmlns:a16="http://schemas.microsoft.com/office/drawing/2014/main" id="{D3FE71E9-928E-17C1-8D3D-2F35951B94CA}"/>
              </a:ext>
            </a:extLst>
          </p:cNvPr>
          <p:cNvSpPr txBox="1"/>
          <p:nvPr/>
        </p:nvSpPr>
        <p:spPr>
          <a:xfrm>
            <a:off x="2650601" y="6123008"/>
            <a:ext cx="6782765" cy="646331"/>
          </a:xfrm>
          <a:prstGeom prst="rect">
            <a:avLst/>
          </a:prstGeom>
          <a:noFill/>
        </p:spPr>
        <p:txBody>
          <a:bodyPr wrap="square" rtlCol="0">
            <a:spAutoFit/>
          </a:bodyPr>
          <a:lstStyle/>
          <a:p>
            <a:r>
              <a:rPr lang="en-US" dirty="0">
                <a:highlight>
                  <a:srgbClr val="FFFF00"/>
                </a:highlight>
              </a:rPr>
              <a:t>Agent provides practical guidance when a student misses a class and suggests responsible steps to stay on track academically.</a:t>
            </a:r>
          </a:p>
        </p:txBody>
      </p:sp>
      <p:pic>
        <p:nvPicPr>
          <p:cNvPr id="5" name="Picture 4">
            <a:extLst>
              <a:ext uri="{FF2B5EF4-FFF2-40B4-BE49-F238E27FC236}">
                <a16:creationId xmlns:a16="http://schemas.microsoft.com/office/drawing/2014/main" id="{D745CE42-8B8F-1EF8-3314-68087C8B0D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896" y="1169043"/>
            <a:ext cx="11806177" cy="4953965"/>
          </a:xfrm>
          <a:prstGeom prst="rect">
            <a:avLst/>
          </a:prstGeom>
        </p:spPr>
      </p:pic>
    </p:spTree>
    <p:extLst>
      <p:ext uri="{BB962C8B-B14F-4D97-AF65-F5344CB8AC3E}">
        <p14:creationId xmlns:p14="http://schemas.microsoft.com/office/powerpoint/2010/main" val="2053697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2307C1-85C2-B8AC-2FC8-C703521C3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A30877-B56B-0C8D-FDAF-C0306E24BF4B}"/>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Results 3:</a:t>
            </a:r>
            <a:endParaRPr lang="en-US" sz="4000" dirty="0"/>
          </a:p>
        </p:txBody>
      </p:sp>
      <p:sp>
        <p:nvSpPr>
          <p:cNvPr id="3" name="Content Placeholder 2">
            <a:extLst>
              <a:ext uri="{FF2B5EF4-FFF2-40B4-BE49-F238E27FC236}">
                <a16:creationId xmlns:a16="http://schemas.microsoft.com/office/drawing/2014/main" id="{03D478CC-C175-2266-A262-1673B5B50A73}"/>
              </a:ext>
            </a:extLst>
          </p:cNvPr>
          <p:cNvSpPr>
            <a:spLocks noGrp="1"/>
          </p:cNvSpPr>
          <p:nvPr>
            <p:ph idx="1"/>
          </p:nvPr>
        </p:nvSpPr>
        <p:spPr>
          <a:xfrm>
            <a:off x="338137" y="4699322"/>
            <a:ext cx="10515600" cy="1643606"/>
          </a:xfrm>
        </p:spPr>
        <p:txBody>
          <a:bodyPr vert="horz" lIns="91440" tIns="45720" rIns="91440" bIns="45720" rtlCol="0">
            <a:normAutofit/>
          </a:bodyPr>
          <a:lstStyle/>
          <a:p>
            <a:pPr marL="0" indent="0">
              <a:buNone/>
            </a:pPr>
            <a:br>
              <a:rPr lang="en-US" sz="2200" dirty="0"/>
            </a:br>
            <a:endParaRPr lang="en-US" sz="2200" dirty="0"/>
          </a:p>
        </p:txBody>
      </p:sp>
      <p:sp>
        <p:nvSpPr>
          <p:cNvPr id="10" name="TextBox 9">
            <a:extLst>
              <a:ext uri="{FF2B5EF4-FFF2-40B4-BE49-F238E27FC236}">
                <a16:creationId xmlns:a16="http://schemas.microsoft.com/office/drawing/2014/main" id="{67511AFF-6CD2-8C92-3124-D9E1BCAED8FE}"/>
              </a:ext>
            </a:extLst>
          </p:cNvPr>
          <p:cNvSpPr txBox="1"/>
          <p:nvPr/>
        </p:nvSpPr>
        <p:spPr>
          <a:xfrm>
            <a:off x="627887" y="6254750"/>
            <a:ext cx="10773176" cy="369332"/>
          </a:xfrm>
          <a:prstGeom prst="rect">
            <a:avLst/>
          </a:prstGeom>
          <a:noFill/>
        </p:spPr>
        <p:txBody>
          <a:bodyPr wrap="square" rtlCol="0">
            <a:spAutoFit/>
          </a:bodyPr>
          <a:lstStyle/>
          <a:p>
            <a:r>
              <a:rPr lang="en-US" dirty="0">
                <a:highlight>
                  <a:srgbClr val="FFFF00"/>
                </a:highlight>
              </a:rPr>
              <a:t>The agent supports students emotionally by giving strategies to manage exam stress and improve focus.</a:t>
            </a:r>
          </a:p>
        </p:txBody>
      </p:sp>
      <p:pic>
        <p:nvPicPr>
          <p:cNvPr id="6" name="Picture 5">
            <a:extLst>
              <a:ext uri="{FF2B5EF4-FFF2-40B4-BE49-F238E27FC236}">
                <a16:creationId xmlns:a16="http://schemas.microsoft.com/office/drawing/2014/main" id="{39AA5F03-5457-5A66-FC1E-41EFB1AD62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887" y="1192192"/>
            <a:ext cx="10936226" cy="4966101"/>
          </a:xfrm>
          <a:prstGeom prst="rect">
            <a:avLst/>
          </a:prstGeom>
        </p:spPr>
      </p:pic>
    </p:spTree>
    <p:extLst>
      <p:ext uri="{BB962C8B-B14F-4D97-AF65-F5344CB8AC3E}">
        <p14:creationId xmlns:p14="http://schemas.microsoft.com/office/powerpoint/2010/main" val="400454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32B574-A876-A336-4524-A5A69D73B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7A657F-E9B6-48B0-FFD7-8C2A874D4C4F}"/>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Results 4:</a:t>
            </a:r>
            <a:endParaRPr lang="en-US" sz="4000" dirty="0"/>
          </a:p>
        </p:txBody>
      </p:sp>
      <p:sp>
        <p:nvSpPr>
          <p:cNvPr id="3" name="Content Placeholder 2">
            <a:extLst>
              <a:ext uri="{FF2B5EF4-FFF2-40B4-BE49-F238E27FC236}">
                <a16:creationId xmlns:a16="http://schemas.microsoft.com/office/drawing/2014/main" id="{646282CD-1A7A-C01F-3782-E21BC0A17048}"/>
              </a:ext>
            </a:extLst>
          </p:cNvPr>
          <p:cNvSpPr>
            <a:spLocks noGrp="1"/>
          </p:cNvSpPr>
          <p:nvPr>
            <p:ph idx="1"/>
          </p:nvPr>
        </p:nvSpPr>
        <p:spPr>
          <a:xfrm>
            <a:off x="338137" y="4699322"/>
            <a:ext cx="10515600" cy="1643606"/>
          </a:xfrm>
        </p:spPr>
        <p:txBody>
          <a:bodyPr vert="horz" lIns="91440" tIns="45720" rIns="91440" bIns="45720" rtlCol="0">
            <a:normAutofit/>
          </a:bodyPr>
          <a:lstStyle/>
          <a:p>
            <a:pPr marL="0" indent="0">
              <a:buNone/>
            </a:pPr>
            <a:br>
              <a:rPr lang="en-US" sz="2200" dirty="0"/>
            </a:br>
            <a:endParaRPr lang="en-US" sz="2200" dirty="0"/>
          </a:p>
        </p:txBody>
      </p:sp>
      <p:sp>
        <p:nvSpPr>
          <p:cNvPr id="10" name="TextBox 9">
            <a:extLst>
              <a:ext uri="{FF2B5EF4-FFF2-40B4-BE49-F238E27FC236}">
                <a16:creationId xmlns:a16="http://schemas.microsoft.com/office/drawing/2014/main" id="{E7F156FA-F594-62DE-A004-6E04FF8A9F10}"/>
              </a:ext>
            </a:extLst>
          </p:cNvPr>
          <p:cNvSpPr txBox="1"/>
          <p:nvPr/>
        </p:nvSpPr>
        <p:spPr>
          <a:xfrm>
            <a:off x="627886" y="6019762"/>
            <a:ext cx="10773176" cy="646331"/>
          </a:xfrm>
          <a:prstGeom prst="rect">
            <a:avLst/>
          </a:prstGeom>
          <a:noFill/>
        </p:spPr>
        <p:txBody>
          <a:bodyPr wrap="square" rtlCol="0">
            <a:spAutoFit/>
          </a:bodyPr>
          <a:lstStyle/>
          <a:p>
            <a:r>
              <a:rPr lang="en-US" dirty="0">
                <a:highlight>
                  <a:srgbClr val="FFFF00"/>
                </a:highlight>
              </a:rPr>
              <a:t>The agent correctly avoids solving subject-specific problems and instead guides the student towards proper learning resources, as per its design instructions. Thus, encouraging Self-learning process.</a:t>
            </a:r>
          </a:p>
        </p:txBody>
      </p:sp>
      <p:pic>
        <p:nvPicPr>
          <p:cNvPr id="5" name="Picture 4">
            <a:extLst>
              <a:ext uri="{FF2B5EF4-FFF2-40B4-BE49-F238E27FC236}">
                <a16:creationId xmlns:a16="http://schemas.microsoft.com/office/drawing/2014/main" id="{1AF8CFD9-E936-1E3E-04F4-986CD492E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624" y="1121711"/>
            <a:ext cx="11469701" cy="4725059"/>
          </a:xfrm>
          <a:prstGeom prst="rect">
            <a:avLst/>
          </a:prstGeom>
        </p:spPr>
      </p:pic>
    </p:spTree>
    <p:extLst>
      <p:ext uri="{BB962C8B-B14F-4D97-AF65-F5344CB8AC3E}">
        <p14:creationId xmlns:p14="http://schemas.microsoft.com/office/powerpoint/2010/main" val="1544074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EE947E-DE8F-5D40-E762-801C301E5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806C7-7906-76DE-5616-88B23B9A6895}"/>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Results 5:</a:t>
            </a:r>
            <a:endParaRPr lang="en-US" sz="4000" dirty="0"/>
          </a:p>
        </p:txBody>
      </p:sp>
      <p:sp>
        <p:nvSpPr>
          <p:cNvPr id="3" name="Content Placeholder 2">
            <a:extLst>
              <a:ext uri="{FF2B5EF4-FFF2-40B4-BE49-F238E27FC236}">
                <a16:creationId xmlns:a16="http://schemas.microsoft.com/office/drawing/2014/main" id="{A414BB24-B169-A010-B6C2-9FD835ECE294}"/>
              </a:ext>
            </a:extLst>
          </p:cNvPr>
          <p:cNvSpPr>
            <a:spLocks noGrp="1"/>
          </p:cNvSpPr>
          <p:nvPr>
            <p:ph idx="1"/>
          </p:nvPr>
        </p:nvSpPr>
        <p:spPr>
          <a:xfrm>
            <a:off x="338137" y="4699322"/>
            <a:ext cx="10515600" cy="1643606"/>
          </a:xfrm>
        </p:spPr>
        <p:txBody>
          <a:bodyPr vert="horz" lIns="91440" tIns="45720" rIns="91440" bIns="45720" rtlCol="0">
            <a:normAutofit/>
          </a:bodyPr>
          <a:lstStyle/>
          <a:p>
            <a:pPr marL="0" indent="0">
              <a:buNone/>
            </a:pPr>
            <a:br>
              <a:rPr lang="en-US" sz="2200" dirty="0"/>
            </a:br>
            <a:endParaRPr lang="en-US" sz="2200" dirty="0"/>
          </a:p>
        </p:txBody>
      </p:sp>
      <p:sp>
        <p:nvSpPr>
          <p:cNvPr id="10" name="TextBox 9">
            <a:extLst>
              <a:ext uri="{FF2B5EF4-FFF2-40B4-BE49-F238E27FC236}">
                <a16:creationId xmlns:a16="http://schemas.microsoft.com/office/drawing/2014/main" id="{B0D7B067-EA6E-3A0B-33E9-E846C4860110}"/>
              </a:ext>
            </a:extLst>
          </p:cNvPr>
          <p:cNvSpPr txBox="1"/>
          <p:nvPr/>
        </p:nvSpPr>
        <p:spPr>
          <a:xfrm>
            <a:off x="338137" y="6070084"/>
            <a:ext cx="11558054" cy="369332"/>
          </a:xfrm>
          <a:prstGeom prst="rect">
            <a:avLst/>
          </a:prstGeom>
          <a:noFill/>
        </p:spPr>
        <p:txBody>
          <a:bodyPr wrap="square" rtlCol="0">
            <a:spAutoFit/>
          </a:bodyPr>
          <a:lstStyle/>
          <a:p>
            <a:r>
              <a:rPr lang="en-US" dirty="0">
                <a:highlight>
                  <a:srgbClr val="FFFF00"/>
                </a:highlight>
              </a:rPr>
              <a:t>The agent helps students draft professional emails and maintains polite conversation flow until the interaction ends.</a:t>
            </a:r>
          </a:p>
        </p:txBody>
      </p:sp>
      <p:pic>
        <p:nvPicPr>
          <p:cNvPr id="6" name="Picture 5">
            <a:extLst>
              <a:ext uri="{FF2B5EF4-FFF2-40B4-BE49-F238E27FC236}">
                <a16:creationId xmlns:a16="http://schemas.microsoft.com/office/drawing/2014/main" id="{CBAB381D-C983-29F9-63AA-F3B22FCA8A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702" y="1203767"/>
            <a:ext cx="11250595" cy="4629874"/>
          </a:xfrm>
          <a:prstGeom prst="rect">
            <a:avLst/>
          </a:prstGeom>
        </p:spPr>
      </p:pic>
    </p:spTree>
    <p:extLst>
      <p:ext uri="{BB962C8B-B14F-4D97-AF65-F5344CB8AC3E}">
        <p14:creationId xmlns:p14="http://schemas.microsoft.com/office/powerpoint/2010/main" val="1432447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296365"/>
            <a:ext cx="10515600" cy="5382227"/>
          </a:xfrm>
        </p:spPr>
        <p:txBody>
          <a:bodyPr vert="horz" lIns="91440" tIns="45720" rIns="91440" bIns="45720" rtlCol="0">
            <a:noAutofit/>
          </a:bodyPr>
          <a:lstStyle/>
          <a:p>
            <a:r>
              <a:rPr lang="en-US" sz="2200" dirty="0">
                <a:latin typeface="Franklin Gothic Book" panose="020B0503020102020204" pitchFamily="34" charset="0"/>
              </a:rPr>
              <a:t>The AI Student Helpdesk Agent was developed to provide students with reliable guidance for common academic and campus-related concerns such as attendance issues, exam stress, time management, communication, and study strategies. The system was designed with clear instructional boundaries to ensure that it offers guidance without directly solving subject-specific problems, encouraging students to learn responsibly.</a:t>
            </a:r>
          </a:p>
          <a:p>
            <a:r>
              <a:rPr lang="en-US" sz="2200" dirty="0">
                <a:latin typeface="Franklin Gothic Book" panose="020B0503020102020204" pitchFamily="34" charset="0"/>
              </a:rPr>
              <a:t>The implementation demonstrated that conversational AI can effectively simulate a student support assistant by providing timely, structured, and polite responses to a wide range of student queries. The agent also successfully handles greetings, gratitude, and professional communication support, making the interaction feel natural and helpful.</a:t>
            </a:r>
          </a:p>
          <a:p>
            <a:r>
              <a:rPr lang="en-US" sz="2200" dirty="0">
                <a:latin typeface="Franklin Gothic Book" panose="020B0503020102020204" pitchFamily="34" charset="0"/>
              </a:rPr>
              <a:t>During development, challenges were encountered in deploying the agent through the original platform(Copilot Studio) due to publishing and licensing restrictions. This led to recreating the same logic using an alternative platform(Botpress) for demonstration purposes. This process highlighted the importance of platform flexibility and adaptability in AI solution deployment.</a:t>
            </a:r>
          </a:p>
        </p:txBody>
      </p:sp>
    </p:spTree>
    <p:extLst>
      <p:ext uri="{BB962C8B-B14F-4D97-AF65-F5344CB8AC3E}">
        <p14:creationId xmlns:p14="http://schemas.microsoft.com/office/powerpoint/2010/main" val="2245309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48F642-C092-5C19-FC16-BE5BCB6632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1CA41-3F17-8267-F5EA-46FF2F8591A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6B0D2418-B9DD-047B-120D-2D8DF0EFEB75}"/>
              </a:ext>
            </a:extLst>
          </p:cNvPr>
          <p:cNvSpPr>
            <a:spLocks noGrp="1"/>
          </p:cNvSpPr>
          <p:nvPr>
            <p:ph idx="1"/>
          </p:nvPr>
        </p:nvSpPr>
        <p:spPr>
          <a:xfrm>
            <a:off x="494083" y="2252352"/>
            <a:ext cx="10515600" cy="2673752"/>
          </a:xfrm>
        </p:spPr>
        <p:txBody>
          <a:bodyPr vert="horz" lIns="91440" tIns="45720" rIns="91440" bIns="45720" rtlCol="0">
            <a:noAutofit/>
          </a:bodyPr>
          <a:lstStyle/>
          <a:p>
            <a:r>
              <a:rPr lang="en-US" sz="2400" dirty="0">
                <a:latin typeface="Franklin Gothic Book" panose="020B0503020102020204" pitchFamily="34" charset="0"/>
              </a:rPr>
              <a:t>Future improvements could include integration with institutional portals, addition of knowledge base resources, multilingual support, and personalization based on student preferences.</a:t>
            </a:r>
          </a:p>
          <a:p>
            <a:pPr marL="0" indent="0">
              <a:buNone/>
            </a:pPr>
            <a:br>
              <a:rPr lang="en-US" sz="2400" dirty="0">
                <a:latin typeface="Franklin Gothic Book" panose="020B0503020102020204" pitchFamily="34" charset="0"/>
              </a:rPr>
            </a:br>
            <a:r>
              <a:rPr lang="en-US" sz="2400" b="1" dirty="0">
                <a:latin typeface="Franklin Gothic Book" panose="020B0503020102020204" pitchFamily="34" charset="0"/>
              </a:rPr>
              <a:t>This project emphasizes the importance of AI-driven guidance systems in educational environments, where students can receive immediate support, motivation, and direction for their academic and personal development without replacing actual learning or faculty interaction.</a:t>
            </a:r>
          </a:p>
        </p:txBody>
      </p:sp>
    </p:spTree>
    <p:extLst>
      <p:ext uri="{BB962C8B-B14F-4D97-AF65-F5344CB8AC3E}">
        <p14:creationId xmlns:p14="http://schemas.microsoft.com/office/powerpoint/2010/main" val="2839045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3"/>
            <a:ext cx="10515600" cy="5269987"/>
          </a:xfrm>
        </p:spPr>
        <p:txBody>
          <a:bodyPr vert="horz" lIns="91440" tIns="45720" rIns="91440" bIns="45720" rtlCol="0">
            <a:noAutofit/>
          </a:bodyPr>
          <a:lstStyle/>
          <a:p>
            <a:pPr>
              <a:spcBef>
                <a:spcPct val="20000"/>
              </a:spcBef>
              <a:spcAft>
                <a:spcPts val="600"/>
              </a:spcAft>
            </a:pPr>
            <a:r>
              <a:rPr lang="en-US" sz="2200" dirty="0">
                <a:latin typeface="Franklin Gothic Book" panose="020B0503020102020204" pitchFamily="34" charset="0"/>
              </a:rPr>
              <a:t>The AI Student Helpdesk Agent can be further enhanced to provide a more personalized and intelligent support experience for students across diverse academic environments. While the current system offers structured guidance for common student concerns, several improvements and expansions can be incorporated in the future.</a:t>
            </a:r>
          </a:p>
          <a:p>
            <a:pPr>
              <a:spcBef>
                <a:spcPct val="20000"/>
              </a:spcBef>
              <a:spcAft>
                <a:spcPts val="600"/>
              </a:spcAft>
            </a:pPr>
            <a:r>
              <a:rPr lang="en-US" sz="2200" dirty="0">
                <a:latin typeface="Franklin Gothic Book" panose="020B0503020102020204" pitchFamily="34" charset="0"/>
              </a:rPr>
              <a:t>The agent can be integrated with institutional systems such as Learning Management Systems (LMS), attendance portals, academic calendars, and student dashboards to provide more context-aware and relevant guidance. Adding a curated knowledge base containing official guidelines, policies, and student resources would further improve the reliability of responses.</a:t>
            </a:r>
          </a:p>
          <a:p>
            <a:pPr>
              <a:spcBef>
                <a:spcPct val="20000"/>
              </a:spcBef>
              <a:spcAft>
                <a:spcPts val="600"/>
              </a:spcAft>
            </a:pPr>
            <a:r>
              <a:rPr lang="en-US" sz="2200" dirty="0">
                <a:latin typeface="Franklin Gothic Book" panose="020B0503020102020204" pitchFamily="34" charset="0"/>
              </a:rPr>
              <a:t>Advanced AI techniques such as sentiment analysis can be introduced to detect student stress levels and respond with more empathetic guidance. Multilingual support can also be added to make the system accessible to students from different linguistic backgrounds.</a:t>
            </a:r>
            <a:endParaRPr lang="en-GB" sz="2200" dirty="0">
              <a:latin typeface="Franklin Gothic Book" panose="020B0503020102020204" pitchFamily="34" charset="0"/>
            </a:endParaRPr>
          </a:p>
          <a:p>
            <a:pPr marL="0" indent="0">
              <a:spcBef>
                <a:spcPct val="20000"/>
              </a:spcBef>
              <a:spcAft>
                <a:spcPts val="600"/>
              </a:spcAft>
              <a:buNone/>
            </a:pPr>
            <a:endParaRPr lang="en-US" sz="2200" dirty="0">
              <a:latin typeface="Franklin Gothic Book" panose="020B0503020102020204" pitchFamily="34" charset="0"/>
            </a:endParaRPr>
          </a:p>
        </p:txBody>
      </p:sp>
    </p:spTree>
    <p:extLst>
      <p:ext uri="{BB962C8B-B14F-4D97-AF65-F5344CB8AC3E}">
        <p14:creationId xmlns:p14="http://schemas.microsoft.com/office/powerpoint/2010/main" val="3744199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35AE5C-203F-9E68-3AE8-6A7CBC0A1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1815EA-7247-F4CC-C1A9-F5ACBDA018FE}"/>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F4FF803E-69FC-15F2-2AC4-2C8074766BB4}"/>
              </a:ext>
            </a:extLst>
          </p:cNvPr>
          <p:cNvSpPr>
            <a:spLocks noGrp="1"/>
          </p:cNvSpPr>
          <p:nvPr>
            <p:ph idx="1"/>
          </p:nvPr>
        </p:nvSpPr>
        <p:spPr>
          <a:xfrm>
            <a:off x="268071" y="1304433"/>
            <a:ext cx="10515600" cy="5269987"/>
          </a:xfrm>
        </p:spPr>
        <p:txBody>
          <a:bodyPr vert="horz" lIns="91440" tIns="45720" rIns="91440" bIns="45720" rtlCol="0">
            <a:noAutofit/>
          </a:bodyPr>
          <a:lstStyle/>
          <a:p>
            <a:pPr>
              <a:spcBef>
                <a:spcPct val="20000"/>
              </a:spcBef>
              <a:spcAft>
                <a:spcPts val="600"/>
              </a:spcAft>
            </a:pPr>
            <a:r>
              <a:rPr lang="en-US" sz="2200" dirty="0">
                <a:latin typeface="Franklin Gothic Book" panose="020B0503020102020204" pitchFamily="34" charset="0"/>
              </a:rPr>
              <a:t>The system can be expanded to support multiple colleges or universities by customizing the guidance based on institutional policies and academic structures. Integration with mobile applications and campus websites can make the agent easily accessible to students at any time.</a:t>
            </a:r>
          </a:p>
          <a:p>
            <a:pPr>
              <a:spcBef>
                <a:spcPct val="20000"/>
              </a:spcBef>
              <a:spcAft>
                <a:spcPts val="600"/>
              </a:spcAft>
            </a:pPr>
            <a:r>
              <a:rPr lang="en-US" sz="2200" dirty="0">
                <a:latin typeface="Franklin Gothic Book" panose="020B0503020102020204" pitchFamily="34" charset="0"/>
              </a:rPr>
              <a:t>Emerging technologies such as voice interaction, analytics for tracking common student issues, and adaptive learning from conversation patterns can be incorporated to continuously improve the effectiveness of the agent.</a:t>
            </a:r>
            <a:br>
              <a:rPr lang="en-US" sz="2200" dirty="0">
                <a:latin typeface="Franklin Gothic Book" panose="020B0503020102020204" pitchFamily="34" charset="0"/>
              </a:rPr>
            </a:br>
            <a:endParaRPr lang="en-US" sz="2200" dirty="0">
              <a:latin typeface="Franklin Gothic Book" panose="020B0503020102020204" pitchFamily="34" charset="0"/>
            </a:endParaRPr>
          </a:p>
          <a:p>
            <a:pPr marL="0" indent="0">
              <a:spcBef>
                <a:spcPct val="20000"/>
              </a:spcBef>
              <a:spcAft>
                <a:spcPts val="600"/>
              </a:spcAft>
              <a:buNone/>
            </a:pPr>
            <a:r>
              <a:rPr lang="en-US" sz="2200" dirty="0">
                <a:latin typeface="Franklin Gothic Book" panose="020B0503020102020204" pitchFamily="34" charset="0"/>
              </a:rPr>
              <a:t>Overall, the project has strong potential to evolve into a comprehensive AI-powered student support assistant capable of assisting students across various academic institutions.</a:t>
            </a:r>
            <a:endParaRPr lang="en-GB" sz="2200" dirty="0">
              <a:latin typeface="Franklin Gothic Book" panose="020B0503020102020204" pitchFamily="34" charset="0"/>
            </a:endParaRPr>
          </a:p>
          <a:p>
            <a:pPr marL="0" indent="0">
              <a:spcBef>
                <a:spcPct val="20000"/>
              </a:spcBef>
              <a:spcAft>
                <a:spcPts val="600"/>
              </a:spcAft>
              <a:buNone/>
            </a:pPr>
            <a:endParaRPr lang="en-US" sz="2200" dirty="0">
              <a:latin typeface="Franklin Gothic Book" panose="020B0503020102020204" pitchFamily="34" charset="0"/>
            </a:endParaRPr>
          </a:p>
        </p:txBody>
      </p:sp>
    </p:spTree>
    <p:extLst>
      <p:ext uri="{BB962C8B-B14F-4D97-AF65-F5344CB8AC3E}">
        <p14:creationId xmlns:p14="http://schemas.microsoft.com/office/powerpoint/2010/main" val="4041468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208379" y="1736204"/>
            <a:ext cx="10515600" cy="4305782"/>
          </a:xfrm>
        </p:spPr>
        <p:txBody>
          <a:bodyPr vert="horz" lIns="91440" tIns="45720" rIns="91440" bIns="45720" rtlCol="0" anchor="t">
            <a:normAutofit/>
          </a:bodyPr>
          <a:lstStyle/>
          <a:p>
            <a:r>
              <a:rPr lang="en-US" sz="2200" i="1" dirty="0">
                <a:latin typeface="Franklin Gothic Book" panose="020B0503020102020204" pitchFamily="34" charset="0"/>
              </a:rPr>
              <a:t>Botpress Documentation</a:t>
            </a:r>
            <a:r>
              <a:rPr lang="en-US" sz="2200" dirty="0">
                <a:latin typeface="Franklin Gothic Book" panose="020B0503020102020204" pitchFamily="34" charset="0"/>
              </a:rPr>
              <a:t> — Botpress official docs to build and deploy AI agents (</a:t>
            </a:r>
            <a:r>
              <a:rPr lang="en-US" sz="2200" dirty="0">
                <a:latin typeface="Franklin Gothic Book" panose="020B0503020102020204" pitchFamily="34" charset="0"/>
                <a:hlinkClick r:id="rId2"/>
              </a:rPr>
              <a:t>https://www.botpress.com/docs</a:t>
            </a:r>
            <a:r>
              <a:rPr lang="en-US" sz="2200" dirty="0">
                <a:latin typeface="Franklin Gothic Book" panose="020B0503020102020204" pitchFamily="34" charset="0"/>
              </a:rPr>
              <a:t>)</a:t>
            </a:r>
          </a:p>
          <a:p>
            <a:r>
              <a:rPr lang="en-US" sz="2200" i="1" dirty="0">
                <a:latin typeface="Franklin Gothic Book" panose="020B0503020102020204" pitchFamily="34" charset="0"/>
              </a:rPr>
              <a:t>Microsoft Copilot Studio Prompt Guide</a:t>
            </a:r>
            <a:r>
              <a:rPr lang="en-US" sz="2200" dirty="0">
                <a:latin typeface="Franklin Gothic Book" panose="020B0503020102020204" pitchFamily="34" charset="0"/>
              </a:rPr>
              <a:t> — How prompt/agent instructions work (</a:t>
            </a:r>
            <a:r>
              <a:rPr lang="en-US" sz="2200" dirty="0">
                <a:latin typeface="Franklin Gothic Book" panose="020B0503020102020204" pitchFamily="34" charset="0"/>
                <a:hlinkClick r:id="rId3"/>
              </a:rPr>
              <a:t>https://learn.microsoft.com/en-us/microsoft-copilot-studio/create-custom-prompt</a:t>
            </a:r>
            <a:r>
              <a:rPr lang="en-US" sz="2200" dirty="0">
                <a:latin typeface="Franklin Gothic Book" panose="020B0503020102020204" pitchFamily="34" charset="0"/>
              </a:rPr>
              <a:t>)</a:t>
            </a:r>
          </a:p>
          <a:p>
            <a:r>
              <a:rPr lang="en-US" sz="2200" i="1" dirty="0">
                <a:latin typeface="Franklin Gothic Book" panose="020B0503020102020204" pitchFamily="34" charset="0"/>
              </a:rPr>
              <a:t>Designing an AI Chatbot for Learning</a:t>
            </a:r>
            <a:r>
              <a:rPr lang="en-US" sz="2200" dirty="0">
                <a:latin typeface="Franklin Gothic Book" panose="020B0503020102020204" pitchFamily="34" charset="0"/>
              </a:rPr>
              <a:t> — Framework for chatbot design in education (</a:t>
            </a:r>
            <a:r>
              <a:rPr lang="en-US" sz="2200" dirty="0">
                <a:latin typeface="Franklin Gothic Book" panose="020B0503020102020204" pitchFamily="34" charset="0"/>
                <a:hlinkClick r:id="rId4"/>
              </a:rPr>
              <a:t>https://www.mdpi.com/2227-7102/15/11/1507</a:t>
            </a:r>
            <a:r>
              <a:rPr lang="en-US" sz="2200" dirty="0">
                <a:latin typeface="Franklin Gothic Book" panose="020B0503020102020204" pitchFamily="34" charset="0"/>
              </a:rPr>
              <a:t>)</a:t>
            </a:r>
          </a:p>
          <a:p>
            <a:r>
              <a:rPr lang="en-US" sz="2200" i="1" dirty="0">
                <a:latin typeface="Franklin Gothic Book" panose="020B0503020102020204" pitchFamily="34" charset="0"/>
              </a:rPr>
              <a:t>LLM Chatbot for Student Decision Support</a:t>
            </a:r>
            <a:r>
              <a:rPr lang="en-US" sz="2200" dirty="0">
                <a:latin typeface="Franklin Gothic Book" panose="020B0503020102020204" pitchFamily="34" charset="0"/>
              </a:rPr>
              <a:t> — Research on student-focused AI mentors (</a:t>
            </a:r>
            <a:r>
              <a:rPr lang="en-US" sz="2200" dirty="0">
                <a:latin typeface="Franklin Gothic Book" panose="020B0503020102020204" pitchFamily="34" charset="0"/>
                <a:hlinkClick r:id="rId5"/>
              </a:rPr>
              <a:t>https://arxiv.org/abs/2401.08517</a:t>
            </a:r>
            <a:r>
              <a:rPr lang="en-US" sz="2200" dirty="0">
                <a:latin typeface="Franklin Gothic Book" panose="020B0503020102020204" pitchFamily="34" charset="0"/>
              </a:rPr>
              <a:t>)</a:t>
            </a:r>
          </a:p>
          <a:p>
            <a:r>
              <a:rPr lang="en-US" sz="2200" i="1" dirty="0">
                <a:latin typeface="Franklin Gothic Book" panose="020B0503020102020204" pitchFamily="34" charset="0"/>
              </a:rPr>
              <a:t>ELIZA Effect (chatbot historical reference)</a:t>
            </a:r>
            <a:r>
              <a:rPr lang="en-US" sz="2200" dirty="0">
                <a:latin typeface="Franklin Gothic Book" panose="020B0503020102020204" pitchFamily="34" charset="0"/>
              </a:rPr>
              <a:t> — Wikipedia page on early NLP chatbots (</a:t>
            </a:r>
            <a:r>
              <a:rPr lang="en-US" sz="2200" dirty="0">
                <a:latin typeface="Franklin Gothic Book" panose="020B0503020102020204" pitchFamily="34" charset="0"/>
                <a:hlinkClick r:id="rId6"/>
              </a:rPr>
              <a:t>https://en.wikipedia.org/wiki/ELIZA_effect</a:t>
            </a:r>
            <a:r>
              <a:rPr lang="en-US" sz="2200" dirty="0">
                <a:latin typeface="Franklin Gothic Book" panose="020B0503020102020204" pitchFamily="34" charset="0"/>
              </a:rPr>
              <a:t>)</a:t>
            </a:r>
            <a:endParaRPr lang="en-IN" sz="2200" u="sng" dirty="0">
              <a:solidFill>
                <a:srgbClr val="0070C0"/>
              </a:solidFill>
              <a:latin typeface="Franklin Gothic Book" panose="020B0503020102020204" pitchFamily="34" charset="0"/>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1330</TotalTime>
  <Words>2035</Words>
  <Application>Microsoft Office PowerPoint</Application>
  <PresentationFormat>Widescreen</PresentationFormat>
  <Paragraphs>142</Paragraphs>
  <Slides>21</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Aptos</vt:lpstr>
      <vt:lpstr>Arial</vt:lpstr>
      <vt:lpstr>Calibri</vt:lpstr>
      <vt:lpstr>Franklin Gothic Book</vt:lpstr>
      <vt:lpstr>Wingdings</vt:lpstr>
      <vt:lpstr>1_Office Theme</vt:lpstr>
      <vt:lpstr>Custom Design</vt:lpstr>
      <vt:lpstr>PowerPoint Presentation</vt:lpstr>
      <vt:lpstr>OUTLINE:</vt:lpstr>
      <vt:lpstr>Problem Statement:</vt:lpstr>
      <vt:lpstr>Proposed Solution:</vt:lpstr>
      <vt:lpstr>Proposed Solution:</vt:lpstr>
      <vt:lpstr>System Approach:</vt:lpstr>
      <vt:lpstr>System Approach:</vt:lpstr>
      <vt:lpstr>Algorithm &amp; Deployment:</vt:lpstr>
      <vt:lpstr>Algorithm &amp; Deployment:</vt:lpstr>
      <vt:lpstr>Result:</vt:lpstr>
      <vt:lpstr>Results 1:</vt:lpstr>
      <vt:lpstr>Results 2:</vt:lpstr>
      <vt:lpstr>Results 3:</vt:lpstr>
      <vt:lpstr>Results 4:</vt:lpstr>
      <vt:lpstr>Results 5:</vt:lpstr>
      <vt:lpstr>Conclusion:</vt:lpstr>
      <vt:lpstr>Conclusion:</vt:lpstr>
      <vt:lpstr>Future scope:</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Yashwanth Reddy</cp:lastModifiedBy>
  <cp:revision>102</cp:revision>
  <dcterms:created xsi:type="dcterms:W3CDTF">2024-05-21T11:55:07Z</dcterms:created>
  <dcterms:modified xsi:type="dcterms:W3CDTF">2026-01-31T17:58:13Z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